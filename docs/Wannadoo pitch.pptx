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ustom.xml" ContentType="application/vnd.openxmlformats-officedocument.custom-properties+xml"/>
  <Override PartName="/docProps/core.xml" ContentType="application/vnd.openxmlformats-package.core-properties+xml"/>
  <Override PartName="/docProps/app.xml" ContentType="application/vnd.openxmlformats-officedocument.extended-properties+xml"/>
  <Override PartName="/ppt/theme/theme1.xml" ContentType="application/vnd.openxmlformats-officedocument.theme+xml"/>
  <Override PartName="/ppt/theme/theme2.xml" ContentType="application/vnd.openxmlformats-officedocument.theme+xml"/>
  <Override PartName="/ppt/presentation.xml" ContentType="application/vnd.openxmlformats-officedocument.presentationml.presentation.main+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Masters/slideMaster1.xml" ContentType="application/vnd.openxmlformats-officedocument.presentationml.slide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slideLayouts/slideLayout1.xml" ContentType="application/vnd.openxmlformats-officedocument.presentationml.slideLayout+xml"/>
  <Override PartName="/ppt/presProps.xml" ContentType="application/vnd.openxmlformats-officedocument.presentationml.presProp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Lst>
  <p:sldSz cx="9144000" cy="5143500"/>
  <p:notesSz cx="5143500" cy="91440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 name="PlaceHolder 1"/>
          <p:cNvSpPr>
            <a:spLocks noGrp="1"/>
          </p:cNvSpPr>
          <p:nvPr>
            <p:ph type="sldImg"/>
          </p:nvPr>
        </p:nvSpPr>
        <p:spPr>
          <a:xfrm>
            <a:off x="216000" y="812520"/>
            <a:ext cx="7127280" cy="4008960"/>
          </a:xfrm>
          <a:prstGeom prst="rect">
            <a:avLst/>
          </a:prstGeom>
          <a:noFill/>
          <a:ln w="0">
            <a:noFill/>
          </a:ln>
        </p:spPr>
        <p:txBody>
          <a:bodyPr lIns="0" tIns="0" rIns="0" bIns="0" anchor="ctr">
            <a:noAutofit/>
          </a:bodyPr>
          <a:p>
            <a:r>
              <a:rPr lang="en-GB" sz="1800" b="0" u="none" strike="noStrike">
                <a:solidFill>
                  <a:schemeClr val="dk1"/>
                </a:solidFill>
                <a:effectLst/>
                <a:uFillTx/>
                <a:latin typeface="Calibri"/>
              </a:rPr>
              <a:t>Click to move the slide</a:t>
            </a:r>
            <a:endParaRPr lang="en-GB" sz="1800" b="0" u="none" strike="noStrike">
              <a:solidFill>
                <a:schemeClr val="dk1"/>
              </a:solidFill>
              <a:effectLst/>
              <a:uFillTx/>
              <a:latin typeface="Calibri"/>
            </a:endParaRPr>
          </a:p>
        </p:txBody>
      </p:sp>
      <p:sp>
        <p:nvSpPr>
          <p:cNvPr id="5"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p>
            <a:pPr indent="0" algn="l">
              <a:buNone/>
            </a:pPr>
            <a:r>
              <a:rPr lang="en-GB" sz="2000" b="0" u="none" strike="noStrike">
                <a:solidFill>
                  <a:srgbClr val="000000"/>
                </a:solidFill>
                <a:effectLst/>
                <a:uFillTx/>
                <a:latin typeface="Arial"/>
              </a:rPr>
              <a:t>Click to edit the notes' format</a:t>
            </a:r>
            <a:endParaRPr lang="en-GB" sz="2000" b="0" u="none" strike="noStrike">
              <a:solidFill>
                <a:srgbClr val="000000"/>
              </a:solidFill>
              <a:effectLst/>
              <a:uFillTx/>
              <a:latin typeface="Arial"/>
            </a:endParaRPr>
          </a:p>
        </p:txBody>
      </p:sp>
      <p:sp>
        <p:nvSpPr>
          <p:cNvPr id="6" name="PlaceHolder 3"/>
          <p:cNvSpPr>
            <a:spLocks noGrp="1"/>
          </p:cNvSpPr>
          <p:nvPr>
            <p:ph type="hdr"/>
          </p:nvPr>
        </p:nvSpPr>
        <p:spPr>
          <a:xfrm>
            <a:off x="0" y="0"/>
            <a:ext cx="3280680" cy="534240"/>
          </a:xfrm>
          <a:prstGeom prst="rect">
            <a:avLst/>
          </a:prstGeom>
          <a:noFill/>
          <a:ln w="0">
            <a:noFill/>
          </a:ln>
        </p:spPr>
        <p:txBody>
          <a:bodyPr lIns="0" tIns="0" rIns="0" bIns="0" anchor="t">
            <a:noAutofit/>
          </a:bodyPr>
          <a:p>
            <a:pPr indent="0" algn="l">
              <a:buNone/>
            </a:pPr>
            <a:r>
              <a:rPr lang="en-GB" sz="1400" b="0" u="none" strike="noStrike">
                <a:solidFill>
                  <a:srgbClr val="000000"/>
                </a:solidFill>
                <a:effectLst/>
                <a:uFillTx/>
                <a:latin typeface="Times New Roman"/>
              </a:rPr>
              <a:t> </a:t>
            </a:r>
            <a:endParaRPr lang="en-GB" sz="1400" b="0" u="none" strike="noStrike">
              <a:solidFill>
                <a:srgbClr val="000000"/>
              </a:solidFill>
              <a:effectLst/>
              <a:uFillTx/>
              <a:latin typeface="Times New Roman"/>
            </a:endParaRPr>
          </a:p>
        </p:txBody>
      </p:sp>
      <p:sp>
        <p:nvSpPr>
          <p:cNvPr id="7" name="PlaceHolder 4"/>
          <p:cNvSpPr>
            <a:spLocks noGrp="1"/>
          </p:cNvSpPr>
          <p:nvPr>
            <p:ph type="dt" idx="1"/>
          </p:nvPr>
        </p:nvSpPr>
        <p:spPr>
          <a:xfrm>
            <a:off x="4278960" y="0"/>
            <a:ext cx="3280680" cy="534240"/>
          </a:xfrm>
          <a:prstGeom prst="rect">
            <a:avLst/>
          </a:prstGeom>
          <a:noFill/>
          <a:ln w="0">
            <a:noFill/>
          </a:ln>
        </p:spPr>
        <p:txBody>
          <a:bodyPr lIns="0" tIns="0" rIns="0" bIns="0" anchor="t">
            <a:noAutofit/>
          </a:bodyPr>
          <a:lstStyle>
            <a:lvl1pPr indent="0" algn="r">
              <a:buNone/>
              <a:defRPr lang="en-GB" sz="1400" b="0" u="none" strike="noStrike">
                <a:solidFill>
                  <a:srgbClr val="000000"/>
                </a:solidFill>
                <a:effectLst/>
                <a:uFillTx/>
                <a:latin typeface="Times New Roman"/>
              </a:defRPr>
            </a:lvl1pPr>
          </a:lstStyle>
          <a:p>
            <a:pPr indent="0" algn="r">
              <a:buNone/>
            </a:pPr>
            <a:r>
              <a:rPr lang="en-GB" sz="1400" b="0" u="none" strike="noStrike">
                <a:solidFill>
                  <a:srgbClr val="000000"/>
                </a:solidFill>
                <a:effectLst/>
                <a:uFillTx/>
                <a:latin typeface="Times New Roman"/>
              </a:rPr>
              <a:t> </a:t>
            </a:r>
            <a:endParaRPr lang="en-GB" sz="1400" b="0" u="none" strike="noStrike">
              <a:solidFill>
                <a:srgbClr val="000000"/>
              </a:solidFill>
              <a:effectLst/>
              <a:uFillTx/>
              <a:latin typeface="Times New Roman"/>
            </a:endParaRPr>
          </a:p>
        </p:txBody>
      </p:sp>
      <p:sp>
        <p:nvSpPr>
          <p:cNvPr id="8" name="PlaceHolder 5"/>
          <p:cNvSpPr>
            <a:spLocks noGrp="1"/>
          </p:cNvSpPr>
          <p:nvPr>
            <p:ph type="ftr" idx="2"/>
          </p:nvPr>
        </p:nvSpPr>
        <p:spPr>
          <a:xfrm>
            <a:off x="0" y="10157400"/>
            <a:ext cx="3280680" cy="534240"/>
          </a:xfrm>
          <a:prstGeom prst="rect">
            <a:avLst/>
          </a:prstGeom>
          <a:noFill/>
          <a:ln w="0">
            <a:noFill/>
          </a:ln>
        </p:spPr>
        <p:txBody>
          <a:bodyPr lIns="0" tIns="0" rIns="0" bIns="0" anchor="b">
            <a:noAutofit/>
          </a:bodyPr>
          <a:lstStyle>
            <a:lvl1pPr indent="0" algn="l">
              <a:buNone/>
              <a:defRPr lang="en-GB" sz="1400" b="0" u="none" strike="noStrike">
                <a:solidFill>
                  <a:srgbClr val="000000"/>
                </a:solidFill>
                <a:effectLst/>
                <a:uFillTx/>
                <a:latin typeface="Times New Roman"/>
              </a:defRPr>
            </a:lvl1pPr>
          </a:lstStyle>
          <a:p>
            <a:pPr indent="0" algn="l">
              <a:buNone/>
            </a:pPr>
            <a:r>
              <a:rPr lang="en-GB" sz="1400" b="0" u="none" strike="noStrike">
                <a:solidFill>
                  <a:srgbClr val="000000"/>
                </a:solidFill>
                <a:effectLst/>
                <a:uFillTx/>
                <a:latin typeface="Times New Roman"/>
              </a:rPr>
              <a:t> </a:t>
            </a:r>
            <a:endParaRPr lang="en-GB" sz="1400" b="0" u="none" strike="noStrike">
              <a:solidFill>
                <a:srgbClr val="000000"/>
              </a:solidFill>
              <a:effectLst/>
              <a:uFillTx/>
              <a:latin typeface="Times New Roman"/>
            </a:endParaRPr>
          </a:p>
        </p:txBody>
      </p:sp>
      <p:sp>
        <p:nvSpPr>
          <p:cNvPr id="9" name="PlaceHolder 6"/>
          <p:cNvSpPr>
            <a:spLocks noGrp="1"/>
          </p:cNvSpPr>
          <p:nvPr>
            <p:ph type="sldNum" idx="3"/>
          </p:nvPr>
        </p:nvSpPr>
        <p:spPr>
          <a:xfrm>
            <a:off x="4278960" y="10157400"/>
            <a:ext cx="3280680" cy="534240"/>
          </a:xfrm>
          <a:prstGeom prst="rect">
            <a:avLst/>
          </a:prstGeom>
          <a:noFill/>
          <a:ln w="0">
            <a:noFill/>
          </a:ln>
        </p:spPr>
        <p:txBody>
          <a:bodyPr lIns="0" tIns="0" rIns="0" bIns="0" anchor="b">
            <a:noAutofit/>
          </a:bodyPr>
          <a:lstStyle>
            <a:lvl1pPr indent="0" algn="r">
              <a:buNone/>
              <a:defRPr lang="en-GB" sz="1400" b="0" u="none" strike="noStrike">
                <a:solidFill>
                  <a:srgbClr val="000000"/>
                </a:solidFill>
                <a:effectLst/>
                <a:uFillTx/>
                <a:latin typeface="Times New Roman"/>
              </a:defRPr>
            </a:lvl1pPr>
          </a:lstStyle>
          <a:p>
            <a:pPr indent="0" algn="r">
              <a:buNone/>
            </a:pPr>
            <a:fld id="{E6A0A8ED-C8C8-443E-9E51-961DEC5EC581}" type="slidenum">
              <a:rPr lang="en-GB" sz="1400" b="0" u="none" strike="noStrike">
                <a:solidFill>
                  <a:srgbClr val="000000"/>
                </a:solidFill>
                <a:effectLst/>
                <a:uFillTx/>
                <a:latin typeface="Times New Roman"/>
              </a:rPr>
              <a:t>1</a:t>
            </a:fld>
            <a:endParaRPr lang="en-GB" sz="14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2" name="PlaceHolder 1"/>
          <p:cNvSpPr>
            <a:spLocks noGrp="1"/>
          </p:cNvSpPr>
          <p:nvPr>
            <p:ph type="sldImg"/>
          </p:nvPr>
        </p:nvSpPr>
        <p:spPr>
          <a:xfrm>
            <a:off x="685800" y="1143000"/>
            <a:ext cx="5486040" cy="3085920"/>
          </a:xfrm>
          <a:prstGeom prst="rect">
            <a:avLst/>
          </a:prstGeom>
          <a:ln w="0">
            <a:noFill/>
          </a:ln>
        </p:spPr>
      </p:sp>
      <p:sp>
        <p:nvSpPr>
          <p:cNvPr id="15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~10 s. Introduce the team and the one-line pitch: Wannadoo turns your city into a short shared adventure for couples.</a:t>
            </a:r>
            <a:endParaRPr lang="en-GB" sz="2000" b="0" u="none" strike="noStrike">
              <a:solidFill>
                <a:srgbClr val="000000"/>
              </a:solidFill>
              <a:effectLst/>
              <a:uFillTx/>
              <a:latin typeface="Arial"/>
            </a:endParaRPr>
          </a:p>
        </p:txBody>
      </p:sp>
      <p:sp>
        <p:nvSpPr>
          <p:cNvPr id="154" name="PlaceHolder 3"/>
          <p:cNvSpPr>
            <a:spLocks noGrp="1"/>
          </p:cNvSpPr>
          <p:nvPr>
            <p:ph type="sldNum" idx="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6DE78E31-42C8-4CD7-9437-395F6FDFA5FB}" type="slidenum">
              <a:rPr lang="en-US" sz="1200" b="0" u="none" strike="noStrike">
                <a:solidFill>
                  <a:schemeClr val="dk1"/>
                </a:solidFill>
                <a:effectLst/>
                <a:uFillTx/>
                <a:latin typeface="+mn-lt"/>
                <a:ea typeface="+mn-ea"/>
              </a:rPr>
              <a:t>&lt;number&gt;</a:t>
            </a:fld>
            <a:endParaRPr lang="en-GB" sz="1200" b="0" u="none" strike="noStrike">
              <a:solidFill>
                <a:srgbClr val="000000"/>
              </a:solidFill>
              <a:effectLst/>
              <a:uFillTx/>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5" name="PlaceHolder 1"/>
          <p:cNvSpPr>
            <a:spLocks noGrp="1"/>
          </p:cNvSpPr>
          <p:nvPr>
            <p:ph type="sldImg"/>
          </p:nvPr>
        </p:nvSpPr>
        <p:spPr>
          <a:xfrm>
            <a:off x="685800" y="1143000"/>
            <a:ext cx="5486040" cy="3085920"/>
          </a:xfrm>
          <a:prstGeom prst="rect">
            <a:avLst/>
          </a:prstGeom>
          <a:ln w="0">
            <a:noFill/>
          </a:ln>
        </p:spPr>
      </p:sp>
      <p:sp>
        <p:nvSpPr>
          <p:cNvPr id="15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r>
              <a:rPr lang="en-US" sz="2000" b="0" u="none" strike="noStrike">
                <a:solidFill>
                  <a:srgbClr val="000000"/>
                </a:solidFill>
                <a:effectLst/>
                <a:uFillTx/>
                <a:latin typeface="Arial"/>
              </a:rPr>
              <a:t>~25 s. [Placeholder script]</a:t>
            </a:r>
            <a:endParaRPr lang="en-GB"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We interviewed seven people in relationships. Everyone defaults to the same dates, and the longer they are together the harder it gets to find something new. Planning takes time nobody has, and the photos they take end up scattered.</a:t>
            </a:r>
            <a:endParaRPr lang="en-GB" sz="2000" b="0" u="none" strike="noStrike">
              <a:solidFill>
                <a:srgbClr val="000000"/>
              </a:solidFill>
              <a:effectLst/>
              <a:uFillTx/>
              <a:latin typeface="Arial"/>
            </a:endParaRPr>
          </a:p>
        </p:txBody>
      </p:sp>
      <p:sp>
        <p:nvSpPr>
          <p:cNvPr id="157" name="PlaceHolder 3"/>
          <p:cNvSpPr>
            <a:spLocks noGrp="1"/>
          </p:cNvSpPr>
          <p:nvPr>
            <p:ph type="sldNum" idx="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E9F96C95-EEA6-4A96-859B-FE59C544F5D9}" type="slidenum">
              <a:rPr lang="en-US" sz="1200" b="0" u="none" strike="noStrike">
                <a:solidFill>
                  <a:schemeClr val="dk1"/>
                </a:solidFill>
                <a:effectLst/>
                <a:uFillTx/>
                <a:latin typeface="+mn-lt"/>
                <a:ea typeface="+mn-ea"/>
              </a:rPr>
              <a:t>&lt;number&gt;</a:t>
            </a:fld>
            <a:endParaRPr lang="en-GB" sz="1200" b="0" u="none" strike="noStrike">
              <a:solidFill>
                <a:srgbClr val="000000"/>
              </a:solidFill>
              <a:effectLst/>
              <a:uFillTx/>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8" name="PlaceHolder 1"/>
          <p:cNvSpPr>
            <a:spLocks noGrp="1"/>
          </p:cNvSpPr>
          <p:nvPr>
            <p:ph type="sldImg"/>
          </p:nvPr>
        </p:nvSpPr>
        <p:spPr>
          <a:xfrm>
            <a:off x="685800" y="1143000"/>
            <a:ext cx="5486040" cy="3085920"/>
          </a:xfrm>
          <a:prstGeom prst="rect">
            <a:avLst/>
          </a:prstGeom>
          <a:ln w="0">
            <a:noFill/>
          </a:ln>
        </p:spPr>
      </p:sp>
      <p:sp>
        <p:nvSpPr>
          <p:cNvPr id="15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r>
              <a:rPr lang="en-US" sz="2000" b="0" u="none" strike="noStrike">
                <a:solidFill>
                  <a:srgbClr val="000000"/>
                </a:solidFill>
                <a:effectLst/>
                <a:uFillTx/>
                <a:latin typeface="Arial"/>
              </a:rPr>
              <a:t>~25 s. [Placeholder script]</a:t>
            </a:r>
            <a:endParaRPr lang="en-GB"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Wannadoo builds a short walking loop from wherever you are. Each stop unlocks a conversation prompt you answer together, and a photo that lands on your shared map. No planning, something new every time, and a record of where you have been.</a:t>
            </a:r>
            <a:endParaRPr lang="en-GB" sz="2000" b="0" u="none" strike="noStrike">
              <a:solidFill>
                <a:srgbClr val="000000"/>
              </a:solidFill>
              <a:effectLst/>
              <a:uFillTx/>
              <a:latin typeface="Arial"/>
            </a:endParaRPr>
          </a:p>
        </p:txBody>
      </p:sp>
      <p:sp>
        <p:nvSpPr>
          <p:cNvPr id="160" name="PlaceHolder 3"/>
          <p:cNvSpPr>
            <a:spLocks noGrp="1"/>
          </p:cNvSpPr>
          <p:nvPr>
            <p:ph type="sldNum" idx="6"/>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9FFC70C4-1319-43FB-8A7B-DC1CCA6EEEFA}" type="slidenum">
              <a:rPr lang="en-US" sz="1200" b="0" u="none" strike="noStrike">
                <a:solidFill>
                  <a:schemeClr val="dk1"/>
                </a:solidFill>
                <a:effectLst/>
                <a:uFillTx/>
                <a:latin typeface="+mn-lt"/>
                <a:ea typeface="+mn-ea"/>
              </a:rPr>
              <a:t>&lt;number&gt;</a:t>
            </a:fld>
            <a:endParaRPr lang="en-GB" sz="1200" b="0" u="none" strike="noStrike">
              <a:solidFill>
                <a:srgbClr val="000000"/>
              </a:solidFill>
              <a:effectLst/>
              <a:uFillTx/>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1" name="PlaceHolder 1"/>
          <p:cNvSpPr>
            <a:spLocks noGrp="1"/>
          </p:cNvSpPr>
          <p:nvPr>
            <p:ph type="sldImg"/>
          </p:nvPr>
        </p:nvSpPr>
        <p:spPr>
          <a:xfrm>
            <a:off x="685800" y="1143000"/>
            <a:ext cx="5486040" cy="3085920"/>
          </a:xfrm>
          <a:prstGeom prst="rect">
            <a:avLst/>
          </a:prstGeom>
          <a:ln w="0">
            <a:noFill/>
          </a:ln>
        </p:spPr>
      </p:sp>
      <p:sp>
        <p:nvSpPr>
          <p:cNvPr id="16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r>
              <a:rPr lang="en-US" sz="2000" b="0" u="none" strike="noStrike">
                <a:solidFill>
                  <a:srgbClr val="000000"/>
                </a:solidFill>
                <a:effectLst/>
                <a:uFillTx/>
                <a:latin typeface="Arial"/>
              </a:rPr>
              <a:t>~60 s. Keep this slide up as the backdrop and switch to the live app.</a:t>
            </a:r>
            <a:endParaRPr lang="en-GB"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1. Pick Daniel, simulate scanning Emma's code.</a:t>
            </a:r>
            <a:endParaRPr lang="en-GB"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2. Choose Surprise Route; show the generated loop on the map. Mention reroll.</a:t>
            </a:r>
            <a:endParaRPr lang="en-GB"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3. Start the route, simulate arrival at stop 1, read the prompt aloud.</a:t>
            </a:r>
            <a:endParaRPr lang="en-GB"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4. Take a photo; show the pin light up and the next stop unlock.</a:t>
            </a:r>
            <a:endParaRPr lang="en-GB"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Fallback if the route services rate-limit: use the curated "Rediscover Riga" trail.</a:t>
            </a:r>
            <a:endParaRPr lang="en-GB" sz="2000" b="0" u="none" strike="noStrike">
              <a:solidFill>
                <a:srgbClr val="000000"/>
              </a:solidFill>
              <a:effectLst/>
              <a:uFillTx/>
              <a:latin typeface="Arial"/>
            </a:endParaRPr>
          </a:p>
        </p:txBody>
      </p:sp>
      <p:sp>
        <p:nvSpPr>
          <p:cNvPr id="163" name="PlaceHolder 3"/>
          <p:cNvSpPr>
            <a:spLocks noGrp="1"/>
          </p:cNvSpPr>
          <p:nvPr>
            <p:ph type="sldNum" idx="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B025D665-149A-4D5C-8066-090F3668EAF9}" type="slidenum">
              <a:rPr lang="en-US" sz="1200" b="0" u="none" strike="noStrike">
                <a:solidFill>
                  <a:schemeClr val="dk1"/>
                </a:solidFill>
                <a:effectLst/>
                <a:uFillTx/>
                <a:latin typeface="+mn-lt"/>
                <a:ea typeface="+mn-ea"/>
              </a:rPr>
              <a:t>&lt;number&gt;</a:t>
            </a:fld>
            <a:endParaRPr lang="en-GB" sz="1200" b="0" u="none" strike="noStrike">
              <a:solidFill>
                <a:srgbClr val="000000"/>
              </a:solidFill>
              <a:effectLst/>
              <a:uFillTx/>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4" name="PlaceHolder 1"/>
          <p:cNvSpPr>
            <a:spLocks noGrp="1"/>
          </p:cNvSpPr>
          <p:nvPr>
            <p:ph type="sldImg"/>
          </p:nvPr>
        </p:nvSpPr>
        <p:spPr>
          <a:xfrm>
            <a:off x="685800" y="1143000"/>
            <a:ext cx="5486040" cy="3085920"/>
          </a:xfrm>
          <a:prstGeom prst="rect">
            <a:avLst/>
          </a:prstGeom>
          <a:ln w="0">
            <a:noFill/>
          </a:ln>
        </p:spPr>
      </p:sp>
      <p:sp>
        <p:nvSpPr>
          <p:cNvPr id="16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r>
              <a:rPr lang="en-US" sz="2000" b="0" u="none" strike="noStrike">
                <a:solidFill>
                  <a:srgbClr val="000000"/>
                </a:solidFill>
                <a:effectLst/>
                <a:uFillTx/>
                <a:latin typeface="Arial"/>
              </a:rPr>
              <a:t>~25 s. [Placeholder script]</a:t>
            </a:r>
            <a:endParaRPr lang="en-GB"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We interviewed seven people, from students to a 70-year-old in a new relationship. Most had never paid for a scavenger hunt, and none had ever paid for date ideas. New couples have plenty of ideas; established couples run dry. And everyone wants deeper connection.</a:t>
            </a:r>
            <a:endParaRPr lang="en-GB"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So we stopped building a scavenger hunt and built an app for couples, with activities that bring them closer rather than games for their own sake.</a:t>
            </a:r>
            <a:endParaRPr lang="en-GB" sz="2000" b="0" u="none" strike="noStrike">
              <a:solidFill>
                <a:srgbClr val="000000"/>
              </a:solidFill>
              <a:effectLst/>
              <a:uFillTx/>
              <a:latin typeface="Arial"/>
            </a:endParaRPr>
          </a:p>
        </p:txBody>
      </p:sp>
      <p:sp>
        <p:nvSpPr>
          <p:cNvPr id="166" name="PlaceHolder 3"/>
          <p:cNvSpPr>
            <a:spLocks noGrp="1"/>
          </p:cNvSpPr>
          <p:nvPr>
            <p:ph type="sldNum" idx="8"/>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7FA52855-3E1A-44F2-A5F4-8EE4C423B1E6}" type="slidenum">
              <a:rPr lang="en-US" sz="1200" b="0" u="none" strike="noStrike">
                <a:solidFill>
                  <a:schemeClr val="dk1"/>
                </a:solidFill>
                <a:effectLst/>
                <a:uFillTx/>
                <a:latin typeface="+mn-lt"/>
                <a:ea typeface="+mn-ea"/>
              </a:rPr>
              <a:t>&lt;number&gt;</a:t>
            </a:fld>
            <a:endParaRPr lang="en-GB" sz="1200" b="0" u="none" strike="noStrike">
              <a:solidFill>
                <a:srgbClr val="000000"/>
              </a:solidFill>
              <a:effectLst/>
              <a:uFillTx/>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7" name="PlaceHolder 1"/>
          <p:cNvSpPr>
            <a:spLocks noGrp="1"/>
          </p:cNvSpPr>
          <p:nvPr>
            <p:ph type="sldImg"/>
          </p:nvPr>
        </p:nvSpPr>
        <p:spPr>
          <a:xfrm>
            <a:off x="685800" y="1143000"/>
            <a:ext cx="5486040" cy="3085920"/>
          </a:xfrm>
          <a:prstGeom prst="rect">
            <a:avLst/>
          </a:prstGeom>
          <a:ln w="0">
            <a:noFill/>
          </a:ln>
        </p:spPr>
      </p:sp>
      <p:sp>
        <p:nvSpPr>
          <p:cNvPr id="16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r>
              <a:rPr lang="en-US" sz="2000" b="0" u="none" strike="noStrike">
                <a:solidFill>
                  <a:srgbClr val="000000"/>
                </a:solidFill>
                <a:effectLst/>
                <a:uFillTx/>
                <a:latin typeface="Arial"/>
              </a:rPr>
              <a:t>~25 s. [Placeholder script]</a:t>
            </a:r>
            <a:endParaRPr lang="en-GB"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The market is full of scavenger-hunt and travel apps: Let's Roam is the biggest, in 3,000+ cities, yet rates 3.3 on Trustpilot. Couples apps like Paired keep people on the sofa. Nobody offers outdoor activities made for couples.</a:t>
            </a:r>
            <a:endParaRPr lang="en-GB"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That gap turned Road Games, one more scavenger hunt, into Wannadoo: outdoor dates for couples, with activities that leave them knowing each other better.</a:t>
            </a:r>
            <a:endParaRPr lang="en-GB" sz="2000" b="0" u="none" strike="noStrike">
              <a:solidFill>
                <a:srgbClr val="000000"/>
              </a:solidFill>
              <a:effectLst/>
              <a:uFillTx/>
              <a:latin typeface="Arial"/>
            </a:endParaRPr>
          </a:p>
        </p:txBody>
      </p:sp>
      <p:sp>
        <p:nvSpPr>
          <p:cNvPr id="169" name="PlaceHolder 3"/>
          <p:cNvSpPr>
            <a:spLocks noGrp="1"/>
          </p:cNvSpPr>
          <p:nvPr>
            <p:ph type="sldNum" idx="9"/>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27F88888-7B55-4EC5-B39D-CE3324761AE5}" type="slidenum">
              <a:rPr lang="en-US" sz="1200" b="0" u="none" strike="noStrike">
                <a:solidFill>
                  <a:schemeClr val="dk1"/>
                </a:solidFill>
                <a:effectLst/>
                <a:uFillTx/>
                <a:latin typeface="+mn-lt"/>
                <a:ea typeface="+mn-ea"/>
              </a:rPr>
              <a:t>&lt;number&gt;</a:t>
            </a:fld>
            <a:endParaRPr lang="en-GB" sz="1200" b="0" u="none" strike="noStrike">
              <a:solidFill>
                <a:srgbClr val="000000"/>
              </a:solidFill>
              <a:effectLst/>
              <a:uFillTx/>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0" name="PlaceHolder 1"/>
          <p:cNvSpPr>
            <a:spLocks noGrp="1"/>
          </p:cNvSpPr>
          <p:nvPr>
            <p:ph type="sldImg"/>
          </p:nvPr>
        </p:nvSpPr>
        <p:spPr>
          <a:xfrm>
            <a:off x="685800" y="1143000"/>
            <a:ext cx="5486040" cy="3085920"/>
          </a:xfrm>
          <a:prstGeom prst="rect">
            <a:avLst/>
          </a:prstGeom>
          <a:ln w="0">
            <a:noFill/>
          </a:ln>
        </p:spPr>
      </p:sp>
      <p:sp>
        <p:nvSpPr>
          <p:cNvPr id="17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r>
              <a:rPr lang="en-US" sz="2000" b="0" u="none" strike="noStrike">
                <a:solidFill>
                  <a:srgbClr val="000000"/>
                </a:solidFill>
                <a:effectLst/>
                <a:uFillTx/>
                <a:latin typeface="Arial"/>
              </a:rPr>
              <a:t>~15 s. Give the verdict and the next step. [Team to decide both before presenting.]</a:t>
            </a:r>
            <a:endParaRPr lang="en-GB"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Close with the tagline: See your city — and each other — anew.</a:t>
            </a:r>
            <a:endParaRPr lang="en-GB" sz="2000" b="0" u="none" strike="noStrike">
              <a:solidFill>
                <a:srgbClr val="000000"/>
              </a:solidFill>
              <a:effectLst/>
              <a:uFillTx/>
              <a:latin typeface="Arial"/>
            </a:endParaRPr>
          </a:p>
        </p:txBody>
      </p:sp>
      <p:sp>
        <p:nvSpPr>
          <p:cNvPr id="172" name="PlaceHolder 3"/>
          <p:cNvSpPr>
            <a:spLocks noGrp="1"/>
          </p:cNvSpPr>
          <p:nvPr>
            <p:ph type="sldNum" idx="10"/>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12BD7B02-60DF-42B9-A34E-1D2A8A741A69}" type="slidenum">
              <a:rPr lang="en-US" sz="1200" b="0" u="none" strike="noStrike">
                <a:solidFill>
                  <a:schemeClr val="dk1"/>
                </a:solidFill>
                <a:effectLst/>
                <a:uFillTx/>
                <a:latin typeface="+mn-lt"/>
                <a:ea typeface="+mn-ea"/>
              </a:rPr>
              <a:t>&lt;number&gt;</a:t>
            </a:fld>
            <a:endParaRPr lang="en-GB" sz="1200" b="0" u="none" strike="noStrik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spTree>
      <p:nvGrpSpPr>
        <p:cNvPr id="1" name=""/>
        <p:cNvGrpSpPr/>
        <p:nvPr/>
      </p:nvGrpSpPr>
      <p:grpSpPr>
        <a:xfrm>
          <a:off x="0" y="0"/>
          <a:ext cx="0" cy="0"/>
          <a:chOff x="0" y="0"/>
          <a:chExt cx="0" cy="0"/>
        </a:xfrm>
      </p:grpSpPr>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lvl1pPr indent="0" algn="l">
              <a:buNone/>
              <a:defRPr lang="en-GB" sz="1800" b="0" u="none" strike="noStrike">
                <a:solidFill>
                  <a:schemeClr val="dk1"/>
                </a:solidFill>
                <a:effectLst/>
                <a:uFillTx/>
                <a:latin typeface="Calibri"/>
              </a:defRPr>
            </a:lvl1pPr>
          </a:lstStyle>
          <a:p>
            <a:pPr indent="0" algn="l">
              <a:buNone/>
            </a:pPr>
            <a:r>
              <a:rPr lang="en-GB" sz="1800" b="0" u="none" strike="noStrike">
                <a:solidFill>
                  <a:schemeClr val="dk1"/>
                </a:solidFill>
                <a:effectLst/>
                <a:uFillTx/>
                <a:latin typeface="Calibri"/>
              </a:rPr>
              <a:t>Click to edit the title text format</a:t>
            </a:r>
            <a:endParaRPr lang="en-GB" sz="1800" b="0" u="none" strike="noStrike">
              <a:solidFill>
                <a:schemeClr val="dk1"/>
              </a:solidFill>
              <a:effectLst/>
              <a:uFillTx/>
              <a:latin typeface="Calibri"/>
            </a:endParaRPr>
          </a:p>
        </p:txBody>
      </p:sp>
      <p:sp>
        <p:nvSpPr>
          <p:cNvPr id="3"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lvl1pPr algn="l">
              <a:spcBef>
                <a:spcPts val="1417"/>
              </a:spcBef>
              <a:buClr>
                <a:srgbClr val="000000"/>
              </a:buClr>
              <a:buSzPct val="45000"/>
              <a:buFont typeface="Wingdings" charset="2"/>
              <a:buChar char=""/>
              <a:defRPr lang="en-GB" sz="3200" b="0" u="none" strike="noStrike">
                <a:solidFill>
                  <a:schemeClr val="dk1"/>
                </a:solidFill>
                <a:effectLst/>
                <a:uFillTx/>
                <a:latin typeface="Calibri"/>
              </a:defRPr>
            </a:lvl1pPr>
            <a:lvl2pPr lvl="1" algn="l">
              <a:spcBef>
                <a:spcPts val="1134"/>
              </a:spcBef>
              <a:buClr>
                <a:srgbClr val="000000"/>
              </a:buClr>
              <a:buSzPct val="75000"/>
              <a:buFont typeface="Symbol" charset="2"/>
              <a:buChar char=""/>
              <a:defRPr lang="en-GB" sz="2400" b="0" u="none" strike="noStrike">
                <a:solidFill>
                  <a:schemeClr val="dk1"/>
                </a:solidFill>
                <a:effectLst/>
                <a:uFillTx/>
                <a:latin typeface="Calibri"/>
              </a:defRPr>
            </a:lvl2pPr>
            <a:lvl3pPr lvl="2" algn="l">
              <a:spcBef>
                <a:spcPts val="850"/>
              </a:spcBef>
              <a:buClr>
                <a:srgbClr val="000000"/>
              </a:buClr>
              <a:buSzPct val="45000"/>
              <a:buFont typeface="Wingdings" charset="2"/>
              <a:buChar char=""/>
              <a:defRPr lang="en-GB" sz="2000" b="0" u="none" strike="noStrike">
                <a:solidFill>
                  <a:schemeClr val="dk1"/>
                </a:solidFill>
                <a:effectLst/>
                <a:uFillTx/>
                <a:latin typeface="Calibri"/>
              </a:defRPr>
            </a:lvl3pPr>
            <a:lvl4pPr lvl="3" algn="l">
              <a:spcBef>
                <a:spcPts val="567"/>
              </a:spcBef>
              <a:buClr>
                <a:srgbClr val="000000"/>
              </a:buClr>
              <a:buSzPct val="75000"/>
              <a:buFont typeface="Symbol" charset="2"/>
              <a:buChar char=""/>
              <a:defRPr lang="en-GB" sz="2000" b="0" u="none" strike="noStrike">
                <a:solidFill>
                  <a:schemeClr val="dk1"/>
                </a:solidFill>
                <a:effectLst/>
                <a:uFillTx/>
                <a:latin typeface="Calibri"/>
              </a:defRPr>
            </a:lvl4pPr>
            <a:lvl5pPr lvl="4" algn="l">
              <a:spcBef>
                <a:spcPts val="283"/>
              </a:spcBef>
              <a:buClr>
                <a:srgbClr val="000000"/>
              </a:buClr>
              <a:buSzPct val="45000"/>
              <a:buFont typeface="Wingdings" charset="2"/>
              <a:buChar char=""/>
              <a:defRPr lang="en-GB" sz="2000" b="0" u="none" strike="noStrike">
                <a:solidFill>
                  <a:schemeClr val="dk1"/>
                </a:solidFill>
                <a:effectLst/>
                <a:uFillTx/>
                <a:latin typeface="Calibri"/>
              </a:defRPr>
            </a:lvl5pPr>
            <a:lvl6pPr lvl="5" algn="l">
              <a:spcBef>
                <a:spcPts val="283"/>
              </a:spcBef>
              <a:buClr>
                <a:srgbClr val="000000"/>
              </a:buClr>
              <a:buSzPct val="45000"/>
              <a:buFont typeface="Wingdings" charset="2"/>
              <a:buChar char=""/>
              <a:defRPr lang="en-GB" sz="2000" b="0" u="none" strike="noStrike">
                <a:solidFill>
                  <a:schemeClr val="dk1"/>
                </a:solidFill>
                <a:effectLst/>
                <a:uFillTx/>
                <a:latin typeface="Calibri"/>
              </a:defRPr>
            </a:lvl6pPr>
            <a:lvl7pPr lvl="6" algn="l">
              <a:spcBef>
                <a:spcPts val="283"/>
              </a:spcBef>
              <a:buClr>
                <a:srgbClr val="000000"/>
              </a:buClr>
              <a:buSzPct val="45000"/>
              <a:buFont typeface="Wingdings" charset="2"/>
              <a:buChar char=""/>
              <a:defRPr lang="en-GB" sz="2000" b="0" u="none" strike="noStrike">
                <a:solidFill>
                  <a:schemeClr val="dk1"/>
                </a:solidFill>
                <a:effectLst/>
                <a:uFillTx/>
                <a:latin typeface="Calibri"/>
              </a:defRPr>
            </a:lvl7pPr>
          </a:lstStyle>
          <a:p>
            <a:pPr marL="432000" indent="-324000" algn="l">
              <a:spcBef>
                <a:spcPts val="1417"/>
              </a:spcBef>
              <a:buClr>
                <a:srgbClr val="000000"/>
              </a:buClr>
              <a:buSzPct val="45000"/>
              <a:buFont typeface="Wingdings" charset="2"/>
              <a:buChar char=""/>
            </a:pPr>
            <a:r>
              <a:rPr lang="en-GB" sz="3200" b="0" u="none" strike="noStrike">
                <a:solidFill>
                  <a:schemeClr val="dk1"/>
                </a:solidFill>
                <a:effectLst/>
                <a:uFillTx/>
                <a:latin typeface="Calibri"/>
              </a:rPr>
              <a:t>Click to edit the outline text format</a:t>
            </a:r>
            <a:endParaRPr lang="en-GB" sz="3200" b="0" u="none" strike="noStrike">
              <a:solidFill>
                <a:schemeClr val="dk1"/>
              </a:solidFill>
              <a:effectLst/>
              <a:uFillTx/>
              <a:latin typeface="Calibri"/>
            </a:endParaRPr>
          </a:p>
          <a:p>
            <a:pPr marL="864000" lvl="1" indent="-324000" algn="l">
              <a:spcBef>
                <a:spcPts val="1134"/>
              </a:spcBef>
              <a:buClr>
                <a:srgbClr val="000000"/>
              </a:buClr>
              <a:buSzPct val="75000"/>
              <a:buFont typeface="Symbol" charset="2"/>
              <a:buChar char=""/>
            </a:pPr>
            <a:r>
              <a:rPr lang="en-GB" sz="2400" b="0" u="none" strike="noStrike">
                <a:solidFill>
                  <a:schemeClr val="dk1"/>
                </a:solidFill>
                <a:effectLst/>
                <a:uFillTx/>
                <a:latin typeface="Calibri"/>
              </a:rPr>
              <a:t>Second Outline Level</a:t>
            </a:r>
            <a:endParaRPr lang="en-GB" sz="2400" b="0" u="none" strike="noStrike">
              <a:solidFill>
                <a:schemeClr val="dk1"/>
              </a:solidFill>
              <a:effectLst/>
              <a:uFillTx/>
              <a:latin typeface="Calibri"/>
            </a:endParaRPr>
          </a:p>
          <a:p>
            <a:pPr marL="1296000" lvl="2" indent="-288000" algn="l">
              <a:spcBef>
                <a:spcPts val="850"/>
              </a:spcBef>
              <a:buClr>
                <a:srgbClr val="000000"/>
              </a:buClr>
              <a:buSzPct val="45000"/>
              <a:buFont typeface="Wingdings" charset="2"/>
              <a:buChar char=""/>
            </a:pPr>
            <a:r>
              <a:rPr lang="en-GB" sz="2000" b="0" u="none" strike="noStrike">
                <a:solidFill>
                  <a:schemeClr val="dk1"/>
                </a:solidFill>
                <a:effectLst/>
                <a:uFillTx/>
                <a:latin typeface="Calibri"/>
              </a:rPr>
              <a:t>Third Outline Level</a:t>
            </a:r>
            <a:endParaRPr lang="en-GB" sz="2000" b="0" u="none" strike="noStrike">
              <a:solidFill>
                <a:schemeClr val="dk1"/>
              </a:solidFill>
              <a:effectLst/>
              <a:uFillTx/>
              <a:latin typeface="Calibri"/>
            </a:endParaRPr>
          </a:p>
          <a:p>
            <a:pPr marL="1728000" lvl="3" indent="-216000" algn="l">
              <a:spcBef>
                <a:spcPts val="567"/>
              </a:spcBef>
              <a:buClr>
                <a:srgbClr val="000000"/>
              </a:buClr>
              <a:buSzPct val="75000"/>
              <a:buFont typeface="Symbol" charset="2"/>
              <a:buChar char=""/>
            </a:pPr>
            <a:r>
              <a:rPr lang="en-GB" sz="2000" b="0" u="none" strike="noStrike">
                <a:solidFill>
                  <a:schemeClr val="dk1"/>
                </a:solidFill>
                <a:effectLst/>
                <a:uFillTx/>
                <a:latin typeface="Calibri"/>
              </a:rPr>
              <a:t>Fourth Outline Level</a:t>
            </a:r>
            <a:endParaRPr lang="en-GB" sz="2000" b="0" u="none" strike="noStrike">
              <a:solidFill>
                <a:schemeClr val="dk1"/>
              </a:solidFill>
              <a:effectLst/>
              <a:uFillTx/>
              <a:latin typeface="Calibri"/>
            </a:endParaRPr>
          </a:p>
          <a:p>
            <a:pPr marL="2160000" lvl="4" indent="-216000" algn="l">
              <a:spcBef>
                <a:spcPts val="283"/>
              </a:spcBef>
              <a:buClr>
                <a:srgbClr val="000000"/>
              </a:buClr>
              <a:buSzPct val="45000"/>
              <a:buFont typeface="Wingdings" charset="2"/>
              <a:buChar char=""/>
            </a:pPr>
            <a:r>
              <a:rPr lang="en-GB" sz="2000" b="0" u="none" strike="noStrike">
                <a:solidFill>
                  <a:schemeClr val="dk1"/>
                </a:solidFill>
                <a:effectLst/>
                <a:uFillTx/>
                <a:latin typeface="Calibri"/>
              </a:rPr>
              <a:t>Fifth Outline Level</a:t>
            </a:r>
            <a:endParaRPr lang="en-GB" sz="2000" b="0" u="none" strike="noStrike">
              <a:solidFill>
                <a:schemeClr val="dk1"/>
              </a:solidFill>
              <a:effectLst/>
              <a:uFillTx/>
              <a:latin typeface="Calibri"/>
            </a:endParaRPr>
          </a:p>
          <a:p>
            <a:pPr marL="2592000" lvl="5" indent="-216000" algn="l">
              <a:spcBef>
                <a:spcPts val="283"/>
              </a:spcBef>
              <a:buClr>
                <a:srgbClr val="000000"/>
              </a:buClr>
              <a:buSzPct val="45000"/>
              <a:buFont typeface="Wingdings" charset="2"/>
              <a:buChar char=""/>
            </a:pPr>
            <a:r>
              <a:rPr lang="en-GB" sz="2000" b="0" u="none" strike="noStrike">
                <a:solidFill>
                  <a:schemeClr val="dk1"/>
                </a:solidFill>
                <a:effectLst/>
                <a:uFillTx/>
                <a:latin typeface="Calibri"/>
              </a:rPr>
              <a:t>Sixth Outline Level</a:t>
            </a:r>
            <a:endParaRPr lang="en-GB" sz="2000" b="0" u="none" strike="noStrike">
              <a:solidFill>
                <a:schemeClr val="dk1"/>
              </a:solidFill>
              <a:effectLst/>
              <a:uFillTx/>
              <a:latin typeface="Calibri"/>
            </a:endParaRPr>
          </a:p>
          <a:p>
            <a:pPr marL="3024000" lvl="6" indent="-216000" algn="l">
              <a:spcBef>
                <a:spcPts val="283"/>
              </a:spcBef>
              <a:buClr>
                <a:srgbClr val="000000"/>
              </a:buClr>
              <a:buSzPct val="45000"/>
              <a:buFont typeface="Wingdings" charset="2"/>
              <a:buChar char=""/>
            </a:pPr>
            <a:r>
              <a:rPr lang="en-GB" sz="2000" b="0" u="none" strike="noStrike">
                <a:solidFill>
                  <a:schemeClr val="dk1"/>
                </a:solidFill>
                <a:effectLst/>
                <a:uFillTx/>
                <a:latin typeface="Calibri"/>
              </a:rPr>
              <a:t>Seventh Outline Level</a:t>
            </a:r>
            <a:endParaRPr lang="en-GB" sz="2000" b="0" u="none" strike="noStrike">
              <a:solidFill>
                <a:schemeClr val="dk1"/>
              </a:solidFill>
              <a:effectLst/>
              <a:uFillTx/>
              <a:latin typeface="Calibri"/>
            </a:endParaRPr>
          </a:p>
        </p:txBody>
      </p:sp>
    </p:spTree>
  </p:cSld>
  <p:clrMap bg1="lt1" tx1="dk1" bg2="lt2" tx2="dk2" accent1="accent1" accent2="accent2" accent3="accent3" accent4="accent4" accent5="accent5" accent6="accent6" hlink="hlink" folHlink="folHlink"/>
  <p:sldLayoutIdLst>
    <p:sldLayoutId id="2147483649" r:id="rId2"/>
  </p:sldLayoutIdLst>
</p:sldMaster>
</file>

<file path=ppt/slides/_rels/slide1.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image" Target="../media/image2.png"/><Relationship Id="rId3" Type="http://schemas.openxmlformats.org/officeDocument/2006/relationships/slideLayout" Target="../slideLayouts/slideLayout1.xml"/><Relationship Id="rId4"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slideLayout" Target="../slideLayouts/slideLayout1.xml"/><Relationship Id="rId6"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slideLayout" Target="../slideLayouts/slideLayout1.xml"/><Relationship Id="rId6"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slideLayout" Target="../slideLayouts/slideLayout1.xml"/><Relationship Id="rId8"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image" Target="../media/image17.png"/><Relationship Id="rId2" Type="http://schemas.openxmlformats.org/officeDocument/2006/relationships/image" Target="../media/image17.png"/><Relationship Id="rId3" Type="http://schemas.openxmlformats.org/officeDocument/2006/relationships/image" Target="../media/image17.png"/><Relationship Id="rId4" Type="http://schemas.openxmlformats.org/officeDocument/2006/relationships/image" Target="../media/image17.png"/><Relationship Id="rId5" Type="http://schemas.openxmlformats.org/officeDocument/2006/relationships/image" Target="../media/image18.png"/><Relationship Id="rId6" Type="http://schemas.openxmlformats.org/officeDocument/2006/relationships/image" Target="../media/image18.png"/><Relationship Id="rId7" Type="http://schemas.openxmlformats.org/officeDocument/2006/relationships/slideLayout" Target="../slideLayouts/slideLayout1.xml"/><Relationship Id="rId8"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image" Target="../media/image17.png"/><Relationship Id="rId2" Type="http://schemas.openxmlformats.org/officeDocument/2006/relationships/image" Target="../media/image17.png"/><Relationship Id="rId3" Type="http://schemas.openxmlformats.org/officeDocument/2006/relationships/image" Target="../media/image18.png"/><Relationship Id="rId4" Type="http://schemas.openxmlformats.org/officeDocument/2006/relationships/image" Target="../media/image18.png"/><Relationship Id="rId5" Type="http://schemas.openxmlformats.org/officeDocument/2006/relationships/slideLayout" Target="../slideLayouts/slideLayout1.xml"/><Relationship Id="rId6"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9.png"/><Relationship Id="rId3" Type="http://schemas.openxmlformats.org/officeDocument/2006/relationships/image" Target="../media/image20.png"/><Relationship Id="rId4" Type="http://schemas.openxmlformats.org/officeDocument/2006/relationships/slideLayout" Target="../slideLayouts/slideLayout1.xml"/><Relationship Id="rId5" Type="http://schemas.openxmlformats.org/officeDocument/2006/relationships/notesSlide" Target="../notesSlides/notesSlide7.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F7D72"/>
        </a:solidFill>
      </p:bgPr>
    </p:bg>
    <p:spTree>
      <p:nvGrpSpPr>
        <p:cNvPr id="1" name=""/>
        <p:cNvGrpSpPr/>
        <p:nvPr/>
      </p:nvGrpSpPr>
      <p:grpSpPr>
        <a:xfrm>
          <a:off x="0" y="0"/>
          <a:ext cx="0" cy="0"/>
          <a:chOff x="0" y="0"/>
          <a:chExt cx="0" cy="0"/>
        </a:xfrm>
      </p:grpSpPr>
      <p:pic>
        <p:nvPicPr>
          <p:cNvPr id="10" name="Image 0" descr="C:/Users/Edgar/Claude/Projects/Hackathon 1/apps/web/public/adventure-bg.jpg"/>
          <p:cNvPicPr/>
          <p:nvPr/>
        </p:nvPicPr>
        <p:blipFill>
          <a:blip r:embed="rId1"/>
          <a:stretch/>
        </p:blipFill>
        <p:spPr>
          <a:xfrm>
            <a:off x="0" y="0"/>
            <a:ext cx="9143640" cy="5143320"/>
          </a:xfrm>
          <a:prstGeom prst="rect">
            <a:avLst/>
          </a:prstGeom>
          <a:noFill/>
          <a:ln w="0">
            <a:noFill/>
          </a:ln>
        </p:spPr>
      </p:pic>
      <p:sp>
        <p:nvSpPr>
          <p:cNvPr id="11" name="Shape 0"/>
          <p:cNvSpPr/>
          <p:nvPr/>
        </p:nvSpPr>
        <p:spPr>
          <a:xfrm>
            <a:off x="0" y="0"/>
            <a:ext cx="9143640" cy="5143320"/>
          </a:xfrm>
          <a:prstGeom prst="rect">
            <a:avLst/>
          </a:prstGeom>
          <a:solidFill>
            <a:srgbClr val="1B3431">
              <a:alpha val="55000"/>
            </a:srgbClr>
          </a:solidFill>
          <a:ln w="0">
            <a:noFill/>
          </a:ln>
        </p:spPr>
        <p:style>
          <a:lnRef idx="0"/>
          <a:fillRef idx="0"/>
          <a:effectRef idx="0"/>
          <a:fontRef idx="minor"/>
        </p:style>
        <p:txBody>
          <a:bodyPr lIns="90000" tIns="45000" rIns="90000" bIns="45000" anchor="t">
            <a:noAutofit/>
          </a:bodyPr>
          <a:p>
            <a:endParaRPr lang="en-GB" sz="1800" b="0" u="none" strike="noStrike">
              <a:solidFill>
                <a:srgbClr val="FFFFFF"/>
              </a:solidFill>
              <a:effectLst/>
              <a:uFillTx/>
              <a:latin typeface="Arial"/>
            </a:endParaRPr>
          </a:p>
        </p:txBody>
      </p:sp>
      <p:pic>
        <p:nvPicPr>
          <p:cNvPr id="12" name="Image 1" descr="preencoded.png"/>
          <p:cNvPicPr/>
          <p:nvPr/>
        </p:nvPicPr>
        <p:blipFill>
          <a:blip r:embed="rId2"/>
          <a:stretch/>
        </p:blipFill>
        <p:spPr>
          <a:xfrm>
            <a:off x="2331720" y="1417320"/>
            <a:ext cx="566640" cy="566640"/>
          </a:xfrm>
          <a:prstGeom prst="rect">
            <a:avLst/>
          </a:prstGeom>
          <a:noFill/>
          <a:ln w="0">
            <a:noFill/>
          </a:ln>
        </p:spPr>
      </p:pic>
      <p:sp>
        <p:nvSpPr>
          <p:cNvPr id="13" name="Text 1"/>
          <p:cNvSpPr/>
          <p:nvPr/>
        </p:nvSpPr>
        <p:spPr>
          <a:xfrm>
            <a:off x="2971800" y="1280160"/>
            <a:ext cx="4571640" cy="868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6000" b="1" u="none" spc="-99" strike="noStrike">
                <a:solidFill>
                  <a:srgbClr val="FFFFFF"/>
                </a:solidFill>
                <a:effectLst/>
                <a:uFillTx/>
                <a:latin typeface="Plus Jakarta Sans"/>
                <a:ea typeface="Plus Jakarta Sans"/>
              </a:rPr>
              <a:t>Wannadoo</a:t>
            </a:r>
            <a:endParaRPr lang="en-GB" sz="6000" b="0" u="none" strike="noStrike">
              <a:solidFill>
                <a:srgbClr val="FFFFFF"/>
              </a:solidFill>
              <a:effectLst/>
              <a:uFillTx/>
              <a:latin typeface="Arial"/>
            </a:endParaRPr>
          </a:p>
        </p:txBody>
      </p:sp>
      <p:sp>
        <p:nvSpPr>
          <p:cNvPr id="14" name="Text 2"/>
          <p:cNvSpPr/>
          <p:nvPr/>
        </p:nvSpPr>
        <p:spPr>
          <a:xfrm>
            <a:off x="914400" y="2286000"/>
            <a:ext cx="7314840" cy="4568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2200" b="0" u="none" strike="noStrike">
                <a:solidFill>
                  <a:srgbClr val="FFFFFF"/>
                </a:solidFill>
                <a:effectLst/>
                <a:uFillTx/>
                <a:latin typeface="Plus Jakarta Sans"/>
                <a:ea typeface="Plus Jakarta Sans"/>
              </a:rPr>
              <a:t>See your city — and each other — anew.</a:t>
            </a:r>
            <a:endParaRPr lang="en-GB" sz="2200" b="0" u="none" strike="noStrike">
              <a:solidFill>
                <a:srgbClr val="FFFFFF"/>
              </a:solidFill>
              <a:effectLst/>
              <a:uFillTx/>
              <a:latin typeface="Arial"/>
            </a:endParaRPr>
          </a:p>
        </p:txBody>
      </p:sp>
      <p:sp>
        <p:nvSpPr>
          <p:cNvPr id="15" name="Text 3"/>
          <p:cNvSpPr/>
          <p:nvPr/>
        </p:nvSpPr>
        <p:spPr>
          <a:xfrm>
            <a:off x="914400" y="2788920"/>
            <a:ext cx="7314840" cy="3654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400" b="0" u="none" strike="noStrike">
                <a:solidFill>
                  <a:srgbClr val="D4EFEA"/>
                </a:solidFill>
                <a:effectLst/>
                <a:uFillTx/>
                <a:latin typeface="Plus Jakarta Sans"/>
                <a:ea typeface="Plus Jakarta Sans"/>
              </a:rPr>
              <a:t>Short walking adventures for couples, generated from where you stand</a:t>
            </a:r>
            <a:endParaRPr lang="en-GB" sz="1400" b="0" u="none" strike="noStrike">
              <a:solidFill>
                <a:srgbClr val="FFFFFF"/>
              </a:solidFill>
              <a:effectLst/>
              <a:uFillTx/>
              <a:latin typeface="Arial"/>
            </a:endParaRPr>
          </a:p>
        </p:txBody>
      </p:sp>
      <p:sp>
        <p:nvSpPr>
          <p:cNvPr id="16" name="Text 4"/>
          <p:cNvSpPr/>
          <p:nvPr/>
        </p:nvSpPr>
        <p:spPr>
          <a:xfrm>
            <a:off x="914400" y="4343400"/>
            <a:ext cx="7314840" cy="3196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00" b="0" u="none" strike="noStrike">
                <a:solidFill>
                  <a:srgbClr val="FFFFFF"/>
                </a:solidFill>
                <a:effectLst/>
                <a:uFillTx/>
                <a:latin typeface="Plus Jakarta Sans"/>
                <a:ea typeface="Plus Jakarta Sans"/>
              </a:rPr>
              <a:t>[Team name]  ·  [Name]  ·  [Name]  ·  [Name]</a:t>
            </a:r>
            <a:endParaRPr lang="en-GB" sz="12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3FAF8"/>
        </a:solidFill>
      </p:bgPr>
    </p:bg>
    <p:spTree>
      <p:nvGrpSpPr>
        <p:cNvPr id="1" name=""/>
        <p:cNvGrpSpPr/>
        <p:nvPr/>
      </p:nvGrpSpPr>
      <p:grpSpPr>
        <a:xfrm>
          <a:off x="0" y="0"/>
          <a:ext cx="0" cy="0"/>
          <a:chOff x="0" y="0"/>
          <a:chExt cx="0" cy="0"/>
        </a:xfrm>
      </p:grpSpPr>
      <p:sp>
        <p:nvSpPr>
          <p:cNvPr id="17" name="Text 0"/>
          <p:cNvSpPr/>
          <p:nvPr/>
        </p:nvSpPr>
        <p:spPr>
          <a:xfrm>
            <a:off x="457200" y="365760"/>
            <a:ext cx="4571640" cy="228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1" u="none" spc="201" strike="noStrike">
                <a:solidFill>
                  <a:srgbClr val="2A9D8F"/>
                </a:solidFill>
                <a:effectLst/>
                <a:uFillTx/>
                <a:latin typeface="Plus Jakarta Sans"/>
                <a:ea typeface="Plus Jakarta Sans"/>
              </a:rPr>
              <a:t>THE PROBLEM</a:t>
            </a:r>
            <a:endParaRPr lang="en-GB" sz="1100" b="0" u="none" strike="noStrike">
              <a:solidFill>
                <a:srgbClr val="000000"/>
              </a:solidFill>
              <a:effectLst/>
              <a:uFillTx/>
              <a:latin typeface="Arial"/>
            </a:endParaRPr>
          </a:p>
        </p:txBody>
      </p:sp>
      <p:sp>
        <p:nvSpPr>
          <p:cNvPr id="18" name="Text 1"/>
          <p:cNvSpPr/>
          <p:nvPr/>
        </p:nvSpPr>
        <p:spPr>
          <a:xfrm>
            <a:off x="457200" y="594360"/>
            <a:ext cx="822924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600" b="1" u="none" strike="noStrike">
                <a:solidFill>
                  <a:srgbClr val="1B3431"/>
                </a:solidFill>
                <a:effectLst/>
                <a:uFillTx/>
                <a:latin typeface="Plus Jakarta Sans"/>
                <a:ea typeface="Plus Jakarta Sans"/>
              </a:rPr>
              <a:t>Date night defaults to dinner and a movie</a:t>
            </a:r>
            <a:endParaRPr lang="en-GB" sz="2600" b="0" u="none" strike="noStrike">
              <a:solidFill>
                <a:srgbClr val="000000"/>
              </a:solidFill>
              <a:effectLst/>
              <a:uFillTx/>
              <a:latin typeface="Arial"/>
            </a:endParaRPr>
          </a:p>
        </p:txBody>
      </p:sp>
      <p:sp>
        <p:nvSpPr>
          <p:cNvPr id="19" name="Shape 2"/>
          <p:cNvSpPr/>
          <p:nvPr/>
        </p:nvSpPr>
        <p:spPr>
          <a:xfrm>
            <a:off x="457200" y="1463040"/>
            <a:ext cx="502560" cy="502560"/>
          </a:xfrm>
          <a:prstGeom prst="ellipse">
            <a:avLst/>
          </a:prstGeom>
          <a:solidFill>
            <a:srgbClr val="D4EFEA"/>
          </a:solidFill>
          <a:ln w="0">
            <a:noFill/>
          </a:ln>
        </p:spPr>
        <p:style>
          <a:lnRef idx="0"/>
          <a:fillRef idx="0"/>
          <a:effectRef idx="0"/>
          <a:fontRef idx="minor"/>
        </p:style>
        <p:txBody>
          <a:bodyPr lIns="90000" tIns="45000" rIns="90000" bIns="45000" anchor="t">
            <a:noAutofit/>
          </a:bodyPr>
          <a:p>
            <a:endParaRPr lang="en-GB" sz="1800" b="0" u="none" strike="noStrike">
              <a:solidFill>
                <a:srgbClr val="000000"/>
              </a:solidFill>
              <a:effectLst/>
              <a:uFillTx/>
              <a:latin typeface="Arial"/>
            </a:endParaRPr>
          </a:p>
        </p:txBody>
      </p:sp>
      <p:pic>
        <p:nvPicPr>
          <p:cNvPr id="20" name="Image 0" descr="preencoded.png"/>
          <p:cNvPicPr/>
          <p:nvPr/>
        </p:nvPicPr>
        <p:blipFill>
          <a:blip r:embed="rId1"/>
          <a:stretch/>
        </p:blipFill>
        <p:spPr>
          <a:xfrm>
            <a:off x="576000" y="1581840"/>
            <a:ext cx="264960" cy="264960"/>
          </a:xfrm>
          <a:prstGeom prst="rect">
            <a:avLst/>
          </a:prstGeom>
          <a:noFill/>
          <a:ln w="0">
            <a:noFill/>
          </a:ln>
        </p:spPr>
      </p:pic>
      <p:sp>
        <p:nvSpPr>
          <p:cNvPr id="21" name="Text 3"/>
          <p:cNvSpPr/>
          <p:nvPr/>
        </p:nvSpPr>
        <p:spPr>
          <a:xfrm>
            <a:off x="1143000" y="1444680"/>
            <a:ext cx="329148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1B3431"/>
                </a:solidFill>
                <a:effectLst/>
                <a:uFillTx/>
                <a:latin typeface="Plus Jakarta Sans"/>
                <a:ea typeface="Plus Jakarta Sans"/>
              </a:rPr>
              <a:t>Ideas go stale</a:t>
            </a:r>
            <a:endParaRPr lang="en-GB" sz="1500" b="0" u="none" strike="noStrike">
              <a:solidFill>
                <a:srgbClr val="000000"/>
              </a:solidFill>
              <a:effectLst/>
              <a:uFillTx/>
              <a:latin typeface="Arial"/>
            </a:endParaRPr>
          </a:p>
        </p:txBody>
      </p:sp>
      <p:sp>
        <p:nvSpPr>
          <p:cNvPr id="22" name="Text 4"/>
          <p:cNvSpPr/>
          <p:nvPr/>
        </p:nvSpPr>
        <p:spPr>
          <a:xfrm>
            <a:off x="1143000" y="1719000"/>
            <a:ext cx="3291480" cy="5025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200" b="0" u="none" strike="noStrike">
                <a:solidFill>
                  <a:srgbClr val="6B8783"/>
                </a:solidFill>
                <a:effectLst/>
                <a:uFillTx/>
                <a:latin typeface="Plus Jakarta Sans"/>
                <a:ea typeface="Plus Jakarta Sans"/>
              </a:rPr>
              <a:t>The longer a couple is together, the more their dates repeat.</a:t>
            </a:r>
            <a:endParaRPr lang="en-GB" sz="1200" b="0" u="none" strike="noStrike">
              <a:solidFill>
                <a:srgbClr val="000000"/>
              </a:solidFill>
              <a:effectLst/>
              <a:uFillTx/>
              <a:latin typeface="Arial"/>
            </a:endParaRPr>
          </a:p>
        </p:txBody>
      </p:sp>
      <p:sp>
        <p:nvSpPr>
          <p:cNvPr id="23" name="Shape 5"/>
          <p:cNvSpPr/>
          <p:nvPr/>
        </p:nvSpPr>
        <p:spPr>
          <a:xfrm>
            <a:off x="457200" y="2423160"/>
            <a:ext cx="502560" cy="502560"/>
          </a:xfrm>
          <a:prstGeom prst="ellipse">
            <a:avLst/>
          </a:prstGeom>
          <a:solidFill>
            <a:srgbClr val="D4EFEA"/>
          </a:solidFill>
          <a:ln w="0">
            <a:noFill/>
          </a:ln>
        </p:spPr>
        <p:style>
          <a:lnRef idx="0"/>
          <a:fillRef idx="0"/>
          <a:effectRef idx="0"/>
          <a:fontRef idx="minor"/>
        </p:style>
        <p:txBody>
          <a:bodyPr lIns="90000" tIns="45000" rIns="90000" bIns="45000" anchor="t">
            <a:noAutofit/>
          </a:bodyPr>
          <a:p>
            <a:endParaRPr lang="en-GB" sz="1800" b="0" u="none" strike="noStrike">
              <a:solidFill>
                <a:srgbClr val="000000"/>
              </a:solidFill>
              <a:effectLst/>
              <a:uFillTx/>
              <a:latin typeface="Arial"/>
            </a:endParaRPr>
          </a:p>
        </p:txBody>
      </p:sp>
      <p:pic>
        <p:nvPicPr>
          <p:cNvPr id="24" name="Image 1" descr="preencoded.png"/>
          <p:cNvPicPr/>
          <p:nvPr/>
        </p:nvPicPr>
        <p:blipFill>
          <a:blip r:embed="rId2"/>
          <a:stretch/>
        </p:blipFill>
        <p:spPr>
          <a:xfrm>
            <a:off x="576000" y="2541960"/>
            <a:ext cx="264960" cy="264960"/>
          </a:xfrm>
          <a:prstGeom prst="rect">
            <a:avLst/>
          </a:prstGeom>
          <a:noFill/>
          <a:ln w="0">
            <a:noFill/>
          </a:ln>
        </p:spPr>
      </p:pic>
      <p:sp>
        <p:nvSpPr>
          <p:cNvPr id="25" name="Text 6"/>
          <p:cNvSpPr/>
          <p:nvPr/>
        </p:nvSpPr>
        <p:spPr>
          <a:xfrm>
            <a:off x="1143000" y="2404800"/>
            <a:ext cx="329148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1B3431"/>
                </a:solidFill>
                <a:effectLst/>
                <a:uFillTx/>
                <a:latin typeface="Plus Jakarta Sans"/>
                <a:ea typeface="Plus Jakarta Sans"/>
              </a:rPr>
              <a:t>Planning is a hassle</a:t>
            </a:r>
            <a:endParaRPr lang="en-GB" sz="1500" b="0" u="none" strike="noStrike">
              <a:solidFill>
                <a:srgbClr val="000000"/>
              </a:solidFill>
              <a:effectLst/>
              <a:uFillTx/>
              <a:latin typeface="Arial"/>
            </a:endParaRPr>
          </a:p>
        </p:txBody>
      </p:sp>
      <p:sp>
        <p:nvSpPr>
          <p:cNvPr id="26" name="Text 7"/>
          <p:cNvSpPr/>
          <p:nvPr/>
        </p:nvSpPr>
        <p:spPr>
          <a:xfrm>
            <a:off x="1143000" y="2679120"/>
            <a:ext cx="3291480" cy="5025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200" b="0" u="none" strike="noStrike">
                <a:solidFill>
                  <a:srgbClr val="6B8783"/>
                </a:solidFill>
                <a:effectLst/>
                <a:uFillTx/>
                <a:latin typeface="Plus Jakarta Sans"/>
                <a:ea typeface="Plus Jakarta Sans"/>
              </a:rPr>
              <a:t>Busy lives leave no time to research something new, so nothing happens.</a:t>
            </a:r>
            <a:endParaRPr lang="en-GB" sz="1200" b="0" u="none" strike="noStrike">
              <a:solidFill>
                <a:srgbClr val="000000"/>
              </a:solidFill>
              <a:effectLst/>
              <a:uFillTx/>
              <a:latin typeface="Arial"/>
            </a:endParaRPr>
          </a:p>
        </p:txBody>
      </p:sp>
      <p:sp>
        <p:nvSpPr>
          <p:cNvPr id="27" name="Shape 8"/>
          <p:cNvSpPr/>
          <p:nvPr/>
        </p:nvSpPr>
        <p:spPr>
          <a:xfrm>
            <a:off x="457200" y="3383280"/>
            <a:ext cx="502560" cy="502560"/>
          </a:xfrm>
          <a:prstGeom prst="ellipse">
            <a:avLst/>
          </a:prstGeom>
          <a:solidFill>
            <a:srgbClr val="D4EFEA"/>
          </a:solidFill>
          <a:ln w="0">
            <a:noFill/>
          </a:ln>
        </p:spPr>
        <p:style>
          <a:lnRef idx="0"/>
          <a:fillRef idx="0"/>
          <a:effectRef idx="0"/>
          <a:fontRef idx="minor"/>
        </p:style>
        <p:txBody>
          <a:bodyPr lIns="90000" tIns="45000" rIns="90000" bIns="45000" anchor="t">
            <a:noAutofit/>
          </a:bodyPr>
          <a:p>
            <a:endParaRPr lang="en-GB" sz="1800" b="0" u="none" strike="noStrike">
              <a:solidFill>
                <a:srgbClr val="000000"/>
              </a:solidFill>
              <a:effectLst/>
              <a:uFillTx/>
              <a:latin typeface="Arial"/>
            </a:endParaRPr>
          </a:p>
        </p:txBody>
      </p:sp>
      <p:pic>
        <p:nvPicPr>
          <p:cNvPr id="28" name="Image 2" descr="preencoded.png"/>
          <p:cNvPicPr/>
          <p:nvPr/>
        </p:nvPicPr>
        <p:blipFill>
          <a:blip r:embed="rId3"/>
          <a:stretch/>
        </p:blipFill>
        <p:spPr>
          <a:xfrm>
            <a:off x="576000" y="3502080"/>
            <a:ext cx="264960" cy="264960"/>
          </a:xfrm>
          <a:prstGeom prst="rect">
            <a:avLst/>
          </a:prstGeom>
          <a:noFill/>
          <a:ln w="0">
            <a:noFill/>
          </a:ln>
        </p:spPr>
      </p:pic>
      <p:sp>
        <p:nvSpPr>
          <p:cNvPr id="29" name="Text 9"/>
          <p:cNvSpPr/>
          <p:nvPr/>
        </p:nvSpPr>
        <p:spPr>
          <a:xfrm>
            <a:off x="1143000" y="3364920"/>
            <a:ext cx="329148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1B3431"/>
                </a:solidFill>
                <a:effectLst/>
                <a:uFillTx/>
                <a:latin typeface="Plus Jakarta Sans"/>
                <a:ea typeface="Plus Jakarta Sans"/>
              </a:rPr>
              <a:t>Memories scatter</a:t>
            </a:r>
            <a:endParaRPr lang="en-GB" sz="1500" b="0" u="none" strike="noStrike">
              <a:solidFill>
                <a:srgbClr val="000000"/>
              </a:solidFill>
              <a:effectLst/>
              <a:uFillTx/>
              <a:latin typeface="Arial"/>
            </a:endParaRPr>
          </a:p>
        </p:txBody>
      </p:sp>
      <p:sp>
        <p:nvSpPr>
          <p:cNvPr id="30" name="Text 10"/>
          <p:cNvSpPr/>
          <p:nvPr/>
        </p:nvSpPr>
        <p:spPr>
          <a:xfrm>
            <a:off x="1143000" y="3639240"/>
            <a:ext cx="3291480" cy="5025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200" b="0" u="none" strike="noStrike">
                <a:solidFill>
                  <a:srgbClr val="6B8783"/>
                </a:solidFill>
                <a:effectLst/>
                <a:uFillTx/>
                <a:latin typeface="Plus Jakarta Sans"/>
                <a:ea typeface="Plus Jakarta Sans"/>
              </a:rPr>
              <a:t>Couples take photos on dates but never collect them anywhere.</a:t>
            </a:r>
            <a:endParaRPr lang="en-GB" sz="1200" b="0" u="none" strike="noStrike">
              <a:solidFill>
                <a:srgbClr val="000000"/>
              </a:solidFill>
              <a:effectLst/>
              <a:uFillTx/>
              <a:latin typeface="Arial"/>
            </a:endParaRPr>
          </a:p>
        </p:txBody>
      </p:sp>
      <p:sp>
        <p:nvSpPr>
          <p:cNvPr id="31" name="Shape 11"/>
          <p:cNvSpPr/>
          <p:nvPr/>
        </p:nvSpPr>
        <p:spPr>
          <a:xfrm>
            <a:off x="5074920" y="1234440"/>
            <a:ext cx="3428640" cy="3428640"/>
          </a:xfrm>
          <a:prstGeom prst="ellipse">
            <a:avLst/>
          </a:prstGeom>
          <a:solidFill>
            <a:srgbClr val="D4EFEA"/>
          </a:solidFill>
          <a:ln w="0">
            <a:noFill/>
          </a:ln>
          <a:effectLst>
            <a:outerShdw algn="bl" blurRad="152280" dir="5400000" dist="38160" kx="0" ky="0" rotWithShape="0" sx="100000" sy="100000">
              <a:srgbClr val="1F7D72">
                <a:alpha val="12000"/>
              </a:srgbClr>
            </a:outerShdw>
          </a:effectLst>
        </p:spPr>
        <p:style>
          <a:lnRef idx="0"/>
          <a:fillRef idx="0"/>
          <a:effectRef idx="0"/>
          <a:fontRef idx="minor"/>
        </p:style>
        <p:txBody>
          <a:bodyPr lIns="90000" tIns="45000" rIns="90000" bIns="45000" anchor="t">
            <a:noAutofit/>
          </a:bodyPr>
          <a:p>
            <a:endParaRPr lang="en-GB" sz="1800" b="0" u="none" strike="noStrike">
              <a:solidFill>
                <a:srgbClr val="000000"/>
              </a:solidFill>
              <a:effectLst/>
              <a:uFillTx/>
              <a:latin typeface="Arial"/>
            </a:endParaRPr>
          </a:p>
        </p:txBody>
      </p:sp>
      <p:pic>
        <p:nvPicPr>
          <p:cNvPr id="32" name="Image 3" descr="preencoded.png"/>
          <p:cNvPicPr/>
          <p:nvPr/>
        </p:nvPicPr>
        <p:blipFill>
          <a:blip r:embed="rId4"/>
          <a:stretch/>
        </p:blipFill>
        <p:spPr>
          <a:xfrm>
            <a:off x="5120640" y="1280160"/>
            <a:ext cx="3337200" cy="3337200"/>
          </a:xfrm>
          <a:prstGeom prst="rect">
            <a:avLst/>
          </a:prstGeom>
          <a:noFill/>
          <a:ln w="0">
            <a:noFill/>
          </a:ln>
        </p:spPr>
      </p:pic>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3FAF8"/>
        </a:solidFill>
      </p:bgPr>
    </p:bg>
    <p:spTree>
      <p:nvGrpSpPr>
        <p:cNvPr id="1" name=""/>
        <p:cNvGrpSpPr/>
        <p:nvPr/>
      </p:nvGrpSpPr>
      <p:grpSpPr>
        <a:xfrm>
          <a:off x="0" y="0"/>
          <a:ext cx="0" cy="0"/>
          <a:chOff x="0" y="0"/>
          <a:chExt cx="0" cy="0"/>
        </a:xfrm>
      </p:grpSpPr>
      <p:sp>
        <p:nvSpPr>
          <p:cNvPr id="33" name="Text 0"/>
          <p:cNvSpPr/>
          <p:nvPr/>
        </p:nvSpPr>
        <p:spPr>
          <a:xfrm>
            <a:off x="457200" y="365760"/>
            <a:ext cx="4571640" cy="228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1" u="none" spc="201" strike="noStrike">
                <a:solidFill>
                  <a:srgbClr val="2A9D8F"/>
                </a:solidFill>
                <a:effectLst/>
                <a:uFillTx/>
                <a:latin typeface="Plus Jakarta Sans"/>
                <a:ea typeface="Plus Jakarta Sans"/>
              </a:rPr>
              <a:t>OUR SOLUTION</a:t>
            </a:r>
            <a:endParaRPr lang="en-GB" sz="1100" b="0" u="none" strike="noStrike">
              <a:solidFill>
                <a:srgbClr val="000000"/>
              </a:solidFill>
              <a:effectLst/>
              <a:uFillTx/>
              <a:latin typeface="Arial"/>
            </a:endParaRPr>
          </a:p>
        </p:txBody>
      </p:sp>
      <p:pic>
        <p:nvPicPr>
          <p:cNvPr id="34" name="Image 0" descr="preencoded.png"/>
          <p:cNvPicPr/>
          <p:nvPr/>
        </p:nvPicPr>
        <p:blipFill>
          <a:blip r:embed="rId1"/>
          <a:stretch/>
        </p:blipFill>
        <p:spPr>
          <a:xfrm>
            <a:off x="457200" y="694800"/>
            <a:ext cx="365400" cy="365400"/>
          </a:xfrm>
          <a:prstGeom prst="rect">
            <a:avLst/>
          </a:prstGeom>
          <a:noFill/>
          <a:ln w="0">
            <a:noFill/>
          </a:ln>
        </p:spPr>
      </p:pic>
      <p:sp>
        <p:nvSpPr>
          <p:cNvPr id="35" name="Text 1"/>
          <p:cNvSpPr/>
          <p:nvPr/>
        </p:nvSpPr>
        <p:spPr>
          <a:xfrm>
            <a:off x="914400" y="594360"/>
            <a:ext cx="777204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600" b="1" u="none" strike="noStrike">
                <a:solidFill>
                  <a:srgbClr val="1B3431"/>
                </a:solidFill>
                <a:effectLst/>
                <a:uFillTx/>
                <a:latin typeface="Plus Jakarta Sans"/>
                <a:ea typeface="Plus Jakarta Sans"/>
              </a:rPr>
              <a:t>Wannadoo turns your city into a date</a:t>
            </a:r>
            <a:endParaRPr lang="en-GB" sz="2600" b="0" u="none" strike="noStrike">
              <a:solidFill>
                <a:srgbClr val="000000"/>
              </a:solidFill>
              <a:effectLst/>
              <a:uFillTx/>
              <a:latin typeface="Arial"/>
            </a:endParaRPr>
          </a:p>
        </p:txBody>
      </p:sp>
      <p:sp>
        <p:nvSpPr>
          <p:cNvPr id="36" name="Shape 2"/>
          <p:cNvSpPr/>
          <p:nvPr/>
        </p:nvSpPr>
        <p:spPr>
          <a:xfrm>
            <a:off x="457200" y="1417320"/>
            <a:ext cx="2559960" cy="3108600"/>
          </a:xfrm>
          <a:prstGeom prst="roundRect">
            <a:avLst>
              <a:gd name="adj" fmla="val 6429"/>
            </a:avLst>
          </a:prstGeom>
          <a:solidFill>
            <a:srgbClr val="2A9D8F"/>
          </a:solidFill>
          <a:ln w="0">
            <a:noFill/>
          </a:ln>
          <a:effectLst>
            <a:outerShdw algn="bl" blurRad="152280" dir="5400000" dist="38160" kx="0" ky="0" rotWithShape="0" sx="100000" sy="100000">
              <a:srgbClr val="1F7D72">
                <a:alpha val="12000"/>
              </a:srgbClr>
            </a:outerShdw>
          </a:effectLst>
        </p:spPr>
        <p:style>
          <a:lnRef idx="0"/>
          <a:fillRef idx="0"/>
          <a:effectRef idx="0"/>
          <a:fontRef idx="minor"/>
        </p:style>
        <p:txBody>
          <a:bodyPr lIns="90000" tIns="45000" rIns="90000" bIns="45000" anchor="t">
            <a:noAutofit/>
          </a:bodyPr>
          <a:p>
            <a:endParaRPr lang="en-GB" sz="1800" b="0" u="none" strike="noStrike">
              <a:solidFill>
                <a:srgbClr val="FFFFFF"/>
              </a:solidFill>
              <a:effectLst/>
              <a:uFillTx/>
              <a:latin typeface="Arial"/>
            </a:endParaRPr>
          </a:p>
        </p:txBody>
      </p:sp>
      <p:sp>
        <p:nvSpPr>
          <p:cNvPr id="37" name="Shape 3"/>
          <p:cNvSpPr/>
          <p:nvPr/>
        </p:nvSpPr>
        <p:spPr>
          <a:xfrm>
            <a:off x="731520" y="1783080"/>
            <a:ext cx="685440" cy="685440"/>
          </a:xfrm>
          <a:prstGeom prst="ellipse">
            <a:avLst/>
          </a:prstGeom>
          <a:solidFill>
            <a:srgbClr val="FFFFFF"/>
          </a:solidFill>
          <a:ln w="0">
            <a:noFill/>
          </a:ln>
        </p:spPr>
        <p:style>
          <a:lnRef idx="0"/>
          <a:fillRef idx="0"/>
          <a:effectRef idx="0"/>
          <a:fontRef idx="minor"/>
        </p:style>
        <p:txBody>
          <a:bodyPr lIns="90000" tIns="45000" rIns="90000" bIns="45000" anchor="t">
            <a:noAutofit/>
          </a:bodyPr>
          <a:p>
            <a:endParaRPr lang="en-GB" sz="1800" b="0" u="none" strike="noStrike">
              <a:solidFill>
                <a:srgbClr val="000000"/>
              </a:solidFill>
              <a:effectLst/>
              <a:uFillTx/>
              <a:latin typeface="Arial"/>
            </a:endParaRPr>
          </a:p>
        </p:txBody>
      </p:sp>
      <p:pic>
        <p:nvPicPr>
          <p:cNvPr id="38" name="Image 1" descr="preencoded.png"/>
          <p:cNvPicPr/>
          <p:nvPr/>
        </p:nvPicPr>
        <p:blipFill>
          <a:blip r:embed="rId2"/>
          <a:stretch/>
        </p:blipFill>
        <p:spPr>
          <a:xfrm>
            <a:off x="905400" y="1956960"/>
            <a:ext cx="338040" cy="338040"/>
          </a:xfrm>
          <a:prstGeom prst="rect">
            <a:avLst/>
          </a:prstGeom>
          <a:noFill/>
          <a:ln w="0">
            <a:noFill/>
          </a:ln>
        </p:spPr>
      </p:pic>
      <p:sp>
        <p:nvSpPr>
          <p:cNvPr id="39" name="Text 4"/>
          <p:cNvSpPr/>
          <p:nvPr/>
        </p:nvSpPr>
        <p:spPr>
          <a:xfrm>
            <a:off x="731520" y="2606040"/>
            <a:ext cx="2102760" cy="6854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400" b="1" u="none" strike="noStrike">
                <a:solidFill>
                  <a:srgbClr val="FFFFFF"/>
                </a:solidFill>
                <a:effectLst/>
                <a:uFillTx/>
                <a:latin typeface="Plus Jakarta Sans"/>
                <a:ea typeface="Plus Jakarta Sans"/>
              </a:rPr>
              <a:t>A surprise route</a:t>
            </a:r>
            <a:endParaRPr lang="en-GB" sz="1400" b="0" u="none" strike="noStrike">
              <a:solidFill>
                <a:srgbClr val="000000"/>
              </a:solidFill>
              <a:effectLst/>
              <a:uFillTx/>
              <a:latin typeface="Arial"/>
            </a:endParaRPr>
          </a:p>
        </p:txBody>
      </p:sp>
      <p:sp>
        <p:nvSpPr>
          <p:cNvPr id="40" name="Text 5"/>
          <p:cNvSpPr/>
          <p:nvPr/>
        </p:nvSpPr>
        <p:spPr>
          <a:xfrm>
            <a:off x="731520" y="3383280"/>
            <a:ext cx="2102760" cy="10054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150" b="0" u="none" strike="noStrike">
                <a:solidFill>
                  <a:srgbClr val="EEF8F6"/>
                </a:solidFill>
                <a:effectLst/>
                <a:uFillTx/>
                <a:latin typeface="Plus Jakarta Sans"/>
                <a:ea typeface="Plus Jakarta Sans"/>
              </a:rPr>
              <a:t>A walking loop of 4–6 spots near you, built fresh from where you stand; reroll if you like.</a:t>
            </a:r>
            <a:endParaRPr lang="en-GB" sz="1150" b="0" u="none" strike="noStrike">
              <a:solidFill>
                <a:srgbClr val="000000"/>
              </a:solidFill>
              <a:effectLst/>
              <a:uFillTx/>
              <a:latin typeface="Arial"/>
            </a:endParaRPr>
          </a:p>
        </p:txBody>
      </p:sp>
      <p:sp>
        <p:nvSpPr>
          <p:cNvPr id="41" name="Shape 6"/>
          <p:cNvSpPr/>
          <p:nvPr/>
        </p:nvSpPr>
        <p:spPr>
          <a:xfrm>
            <a:off x="3291840" y="1417320"/>
            <a:ext cx="2559960" cy="3108600"/>
          </a:xfrm>
          <a:prstGeom prst="roundRect">
            <a:avLst>
              <a:gd name="adj" fmla="val 6429"/>
            </a:avLst>
          </a:prstGeom>
          <a:solidFill>
            <a:srgbClr val="FFFFFF"/>
          </a:solidFill>
          <a:ln w="0">
            <a:noFill/>
          </a:ln>
          <a:effectLst>
            <a:outerShdw algn="bl" blurRad="152280" dir="5400000" dist="38160" kx="0" ky="0" rotWithShape="0" sx="100000" sy="100000">
              <a:srgbClr val="1F7D72">
                <a:alpha val="12000"/>
              </a:srgbClr>
            </a:outerShdw>
          </a:effectLst>
        </p:spPr>
        <p:style>
          <a:lnRef idx="0"/>
          <a:fillRef idx="0"/>
          <a:effectRef idx="0"/>
          <a:fontRef idx="minor"/>
        </p:style>
        <p:txBody>
          <a:bodyPr lIns="90000" tIns="45000" rIns="90000" bIns="45000" anchor="t">
            <a:noAutofit/>
          </a:bodyPr>
          <a:p>
            <a:endParaRPr lang="en-GB" sz="1800" b="0" u="none" strike="noStrike">
              <a:solidFill>
                <a:srgbClr val="000000"/>
              </a:solidFill>
              <a:effectLst/>
              <a:uFillTx/>
              <a:latin typeface="Arial"/>
            </a:endParaRPr>
          </a:p>
        </p:txBody>
      </p:sp>
      <p:sp>
        <p:nvSpPr>
          <p:cNvPr id="42" name="Shape 7"/>
          <p:cNvSpPr/>
          <p:nvPr/>
        </p:nvSpPr>
        <p:spPr>
          <a:xfrm>
            <a:off x="3566160" y="1783080"/>
            <a:ext cx="685440" cy="685440"/>
          </a:xfrm>
          <a:prstGeom prst="ellipse">
            <a:avLst/>
          </a:prstGeom>
          <a:solidFill>
            <a:srgbClr val="2A9D8F"/>
          </a:solidFill>
          <a:ln w="0">
            <a:noFill/>
          </a:ln>
        </p:spPr>
        <p:style>
          <a:lnRef idx="0"/>
          <a:fillRef idx="0"/>
          <a:effectRef idx="0"/>
          <a:fontRef idx="minor"/>
        </p:style>
        <p:txBody>
          <a:bodyPr lIns="90000" tIns="45000" rIns="90000" bIns="45000" anchor="t">
            <a:noAutofit/>
          </a:bodyPr>
          <a:p>
            <a:endParaRPr lang="en-GB" sz="1800" b="0" u="none" strike="noStrike">
              <a:solidFill>
                <a:srgbClr val="FFFFFF"/>
              </a:solidFill>
              <a:effectLst/>
              <a:uFillTx/>
              <a:latin typeface="Arial"/>
            </a:endParaRPr>
          </a:p>
        </p:txBody>
      </p:sp>
      <p:pic>
        <p:nvPicPr>
          <p:cNvPr id="43" name="Image 2" descr="preencoded.png"/>
          <p:cNvPicPr/>
          <p:nvPr/>
        </p:nvPicPr>
        <p:blipFill>
          <a:blip r:embed="rId3"/>
          <a:stretch/>
        </p:blipFill>
        <p:spPr>
          <a:xfrm>
            <a:off x="3740040" y="1956960"/>
            <a:ext cx="338040" cy="338040"/>
          </a:xfrm>
          <a:prstGeom prst="rect">
            <a:avLst/>
          </a:prstGeom>
          <a:noFill/>
          <a:ln w="0">
            <a:noFill/>
          </a:ln>
        </p:spPr>
      </p:pic>
      <p:sp>
        <p:nvSpPr>
          <p:cNvPr id="44" name="Text 8"/>
          <p:cNvSpPr/>
          <p:nvPr/>
        </p:nvSpPr>
        <p:spPr>
          <a:xfrm>
            <a:off x="3566160" y="2606040"/>
            <a:ext cx="2102760" cy="6854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400" b="1" u="none" strike="noStrike">
                <a:solidFill>
                  <a:srgbClr val="1B3431"/>
                </a:solidFill>
                <a:effectLst/>
                <a:uFillTx/>
                <a:latin typeface="Plus Jakarta Sans"/>
                <a:ea typeface="Plus Jakarta Sans"/>
              </a:rPr>
              <a:t>Meaningful questions, exciting challenges</a:t>
            </a:r>
            <a:endParaRPr lang="en-GB" sz="1400" b="0" u="none" strike="noStrike">
              <a:solidFill>
                <a:srgbClr val="000000"/>
              </a:solidFill>
              <a:effectLst/>
              <a:uFillTx/>
              <a:latin typeface="Arial"/>
            </a:endParaRPr>
          </a:p>
        </p:txBody>
      </p:sp>
      <p:sp>
        <p:nvSpPr>
          <p:cNvPr id="45" name="Text 9"/>
          <p:cNvSpPr/>
          <p:nvPr/>
        </p:nvSpPr>
        <p:spPr>
          <a:xfrm>
            <a:off x="3566160" y="3383280"/>
            <a:ext cx="2102760" cy="10054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150" b="0" u="none" strike="noStrike">
                <a:solidFill>
                  <a:srgbClr val="6B8783"/>
                </a:solidFill>
                <a:effectLst/>
                <a:uFillTx/>
                <a:latin typeface="Plus Jakarta Sans"/>
                <a:ea typeface="Plus Jakarta Sans"/>
              </a:rPr>
              <a:t>Each stop unlocks a question you both answer or a challenge to complete, starting light and getting more personal.</a:t>
            </a:r>
            <a:endParaRPr lang="en-GB" sz="1150" b="0" u="none" strike="noStrike">
              <a:solidFill>
                <a:srgbClr val="000000"/>
              </a:solidFill>
              <a:effectLst/>
              <a:uFillTx/>
              <a:latin typeface="Arial"/>
            </a:endParaRPr>
          </a:p>
        </p:txBody>
      </p:sp>
      <p:sp>
        <p:nvSpPr>
          <p:cNvPr id="46" name="Shape 10"/>
          <p:cNvSpPr/>
          <p:nvPr/>
        </p:nvSpPr>
        <p:spPr>
          <a:xfrm>
            <a:off x="6126480" y="1417320"/>
            <a:ext cx="2559960" cy="3108600"/>
          </a:xfrm>
          <a:prstGeom prst="roundRect">
            <a:avLst>
              <a:gd name="adj" fmla="val 6429"/>
            </a:avLst>
          </a:prstGeom>
          <a:solidFill>
            <a:srgbClr val="FFFFFF"/>
          </a:solidFill>
          <a:ln w="0">
            <a:noFill/>
          </a:ln>
          <a:effectLst>
            <a:outerShdw algn="bl" blurRad="152280" dir="5400000" dist="38160" kx="0" ky="0" rotWithShape="0" sx="100000" sy="100000">
              <a:srgbClr val="1F7D72">
                <a:alpha val="12000"/>
              </a:srgbClr>
            </a:outerShdw>
          </a:effectLst>
        </p:spPr>
        <p:style>
          <a:lnRef idx="0"/>
          <a:fillRef idx="0"/>
          <a:effectRef idx="0"/>
          <a:fontRef idx="minor"/>
        </p:style>
        <p:txBody>
          <a:bodyPr lIns="90000" tIns="45000" rIns="90000" bIns="45000" anchor="t">
            <a:noAutofit/>
          </a:bodyPr>
          <a:p>
            <a:endParaRPr lang="en-GB" sz="1800" b="0" u="none" strike="noStrike">
              <a:solidFill>
                <a:srgbClr val="000000"/>
              </a:solidFill>
              <a:effectLst/>
              <a:uFillTx/>
              <a:latin typeface="Arial"/>
            </a:endParaRPr>
          </a:p>
        </p:txBody>
      </p:sp>
      <p:sp>
        <p:nvSpPr>
          <p:cNvPr id="47" name="Shape 11"/>
          <p:cNvSpPr/>
          <p:nvPr/>
        </p:nvSpPr>
        <p:spPr>
          <a:xfrm>
            <a:off x="6400800" y="1783080"/>
            <a:ext cx="685440" cy="685440"/>
          </a:xfrm>
          <a:prstGeom prst="ellipse">
            <a:avLst/>
          </a:prstGeom>
          <a:solidFill>
            <a:srgbClr val="2A9D8F"/>
          </a:solidFill>
          <a:ln w="0">
            <a:noFill/>
          </a:ln>
        </p:spPr>
        <p:style>
          <a:lnRef idx="0"/>
          <a:fillRef idx="0"/>
          <a:effectRef idx="0"/>
          <a:fontRef idx="minor"/>
        </p:style>
        <p:txBody>
          <a:bodyPr lIns="90000" tIns="45000" rIns="90000" bIns="45000" anchor="t">
            <a:noAutofit/>
          </a:bodyPr>
          <a:p>
            <a:endParaRPr lang="en-GB" sz="1800" b="0" u="none" strike="noStrike">
              <a:solidFill>
                <a:srgbClr val="FFFFFF"/>
              </a:solidFill>
              <a:effectLst/>
              <a:uFillTx/>
              <a:latin typeface="Arial"/>
            </a:endParaRPr>
          </a:p>
        </p:txBody>
      </p:sp>
      <p:pic>
        <p:nvPicPr>
          <p:cNvPr id="48" name="Image 3" descr="preencoded.png"/>
          <p:cNvPicPr/>
          <p:nvPr/>
        </p:nvPicPr>
        <p:blipFill>
          <a:blip r:embed="rId4"/>
          <a:stretch/>
        </p:blipFill>
        <p:spPr>
          <a:xfrm>
            <a:off x="6574680" y="1956960"/>
            <a:ext cx="338040" cy="338040"/>
          </a:xfrm>
          <a:prstGeom prst="rect">
            <a:avLst/>
          </a:prstGeom>
          <a:noFill/>
          <a:ln w="0">
            <a:noFill/>
          </a:ln>
        </p:spPr>
      </p:pic>
      <p:sp>
        <p:nvSpPr>
          <p:cNvPr id="49" name="Text 12"/>
          <p:cNvSpPr/>
          <p:nvPr/>
        </p:nvSpPr>
        <p:spPr>
          <a:xfrm>
            <a:off x="6400800" y="2606040"/>
            <a:ext cx="2102760" cy="6854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400" b="1" u="none" strike="noStrike">
                <a:solidFill>
                  <a:srgbClr val="1B3431"/>
                </a:solidFill>
                <a:effectLst/>
                <a:uFillTx/>
                <a:latin typeface="Plus Jakarta Sans"/>
                <a:ea typeface="Plus Jakarta Sans"/>
              </a:rPr>
              <a:t>Your shared map</a:t>
            </a:r>
            <a:endParaRPr lang="en-GB" sz="1400" b="0" u="none" strike="noStrike">
              <a:solidFill>
                <a:srgbClr val="000000"/>
              </a:solidFill>
              <a:effectLst/>
              <a:uFillTx/>
              <a:latin typeface="Arial"/>
            </a:endParaRPr>
          </a:p>
        </p:txBody>
      </p:sp>
      <p:sp>
        <p:nvSpPr>
          <p:cNvPr id="50" name="Text 13"/>
          <p:cNvSpPr/>
          <p:nvPr/>
        </p:nvSpPr>
        <p:spPr>
          <a:xfrm>
            <a:off x="6400800" y="3383280"/>
            <a:ext cx="2102760" cy="10054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150" b="0" u="none" strike="noStrike">
                <a:solidFill>
                  <a:srgbClr val="6B8783"/>
                </a:solidFill>
                <a:effectLst/>
                <a:uFillTx/>
                <a:latin typeface="Plus Jakarta Sans"/>
                <a:ea typeface="Plus Jakarta Sans"/>
              </a:rPr>
              <a:t>A couple photo at every stop lands on a map of the places you have explored together.</a:t>
            </a:r>
            <a:endParaRPr lang="en-GB" sz="11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pic>
        <p:nvPicPr>
          <p:cNvPr id="51" name="Image 0" descr="preencoded.png"/>
          <p:cNvPicPr/>
          <p:nvPr/>
        </p:nvPicPr>
        <p:blipFill>
          <a:blip r:embed="rId2"/>
          <a:stretch/>
        </p:blipFill>
        <p:spPr>
          <a:xfrm>
            <a:off x="5166360" y="320040"/>
            <a:ext cx="3145320" cy="4516920"/>
          </a:xfrm>
          <a:prstGeom prst="rect">
            <a:avLst/>
          </a:prstGeom>
          <a:noFill/>
          <a:ln w="0">
            <a:noFill/>
          </a:ln>
          <a:effectLst>
            <a:outerShdw algn="bl" blurRad="228600" dir="5400000" dist="76320" kx="0" ky="0" rotWithShape="0" sx="100000" sy="100000">
              <a:srgbClr val="0F4D45">
                <a:alpha val="30000"/>
              </a:srgbClr>
            </a:outerShdw>
          </a:effectLst>
        </p:spPr>
      </p:pic>
      <p:sp>
        <p:nvSpPr>
          <p:cNvPr id="52" name="Text 0"/>
          <p:cNvSpPr/>
          <p:nvPr/>
        </p:nvSpPr>
        <p:spPr>
          <a:xfrm>
            <a:off x="457200" y="457200"/>
            <a:ext cx="3657240" cy="228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1" u="none" spc="201" strike="noStrike">
                <a:solidFill>
                  <a:srgbClr val="D4EFEA"/>
                </a:solidFill>
                <a:effectLst/>
                <a:uFillTx/>
                <a:latin typeface="Plus Jakarta Sans"/>
                <a:ea typeface="Plus Jakarta Sans"/>
              </a:rPr>
              <a:t>LIVE DEMO</a:t>
            </a:r>
            <a:endParaRPr lang="en-GB" sz="1100" b="0" u="none" strike="noStrike">
              <a:solidFill>
                <a:srgbClr val="FFFFFF"/>
              </a:solidFill>
              <a:effectLst/>
              <a:uFillTx/>
              <a:latin typeface="Arial"/>
            </a:endParaRPr>
          </a:p>
        </p:txBody>
      </p:sp>
      <p:sp>
        <p:nvSpPr>
          <p:cNvPr id="53" name="Text 1"/>
          <p:cNvSpPr/>
          <p:nvPr/>
        </p:nvSpPr>
        <p:spPr>
          <a:xfrm>
            <a:off x="457200" y="713160"/>
            <a:ext cx="438876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800" b="1" u="none" strike="noStrike">
                <a:solidFill>
                  <a:srgbClr val="FFFFFF"/>
                </a:solidFill>
                <a:effectLst/>
                <a:uFillTx/>
                <a:latin typeface="Plus Jakarta Sans"/>
                <a:ea typeface="Plus Jakarta Sans"/>
              </a:rPr>
              <a:t>One evening, one loop</a:t>
            </a:r>
            <a:endParaRPr lang="en-GB" sz="2800" b="0" u="none" strike="noStrike">
              <a:solidFill>
                <a:srgbClr val="FFFFFF"/>
              </a:solidFill>
              <a:effectLst/>
              <a:uFillTx/>
              <a:latin typeface="Arial"/>
            </a:endParaRPr>
          </a:p>
        </p:txBody>
      </p:sp>
      <p:sp>
        <p:nvSpPr>
          <p:cNvPr id="54" name="Shape 2"/>
          <p:cNvSpPr/>
          <p:nvPr/>
        </p:nvSpPr>
        <p:spPr>
          <a:xfrm>
            <a:off x="457200" y="1554480"/>
            <a:ext cx="548280" cy="548280"/>
          </a:xfrm>
          <a:prstGeom prst="ellipse">
            <a:avLst/>
          </a:prstGeom>
          <a:solidFill>
            <a:srgbClr val="FFFFFF"/>
          </a:solidFill>
          <a:ln w="0">
            <a:noFill/>
          </a:ln>
        </p:spPr>
        <p:style>
          <a:lnRef idx="0"/>
          <a:fillRef idx="0"/>
          <a:effectRef idx="0"/>
          <a:fontRef idx="minor"/>
        </p:style>
        <p:txBody>
          <a:bodyPr lIns="90000" tIns="45000" rIns="90000" bIns="45000" anchor="t">
            <a:noAutofit/>
          </a:bodyPr>
          <a:p>
            <a:endParaRPr lang="en-GB" sz="1800" b="0" u="none" strike="noStrike">
              <a:solidFill>
                <a:srgbClr val="000000"/>
              </a:solidFill>
              <a:effectLst/>
              <a:uFillTx/>
              <a:latin typeface="Arial"/>
            </a:endParaRPr>
          </a:p>
        </p:txBody>
      </p:sp>
      <p:pic>
        <p:nvPicPr>
          <p:cNvPr id="55" name="Image 1" descr="preencoded.png"/>
          <p:cNvPicPr/>
          <p:nvPr/>
        </p:nvPicPr>
        <p:blipFill>
          <a:blip r:embed="rId3"/>
          <a:stretch/>
        </p:blipFill>
        <p:spPr>
          <a:xfrm>
            <a:off x="594360" y="1691640"/>
            <a:ext cx="273960" cy="273960"/>
          </a:xfrm>
          <a:prstGeom prst="rect">
            <a:avLst/>
          </a:prstGeom>
          <a:noFill/>
          <a:ln w="0">
            <a:noFill/>
          </a:ln>
        </p:spPr>
      </p:pic>
      <p:sp>
        <p:nvSpPr>
          <p:cNvPr id="56" name="Shape 3"/>
          <p:cNvSpPr/>
          <p:nvPr/>
        </p:nvSpPr>
        <p:spPr>
          <a:xfrm>
            <a:off x="731520" y="2148840"/>
            <a:ext cx="360" cy="182880"/>
          </a:xfrm>
          <a:prstGeom prst="line">
            <a:avLst/>
          </a:prstGeom>
          <a:ln w="19050">
            <a:solidFill>
              <a:srgbClr val="D4EFEA"/>
            </a:solidFill>
            <a:prstDash val="dash"/>
            <a:round/>
          </a:ln>
        </p:spPr>
        <p:style>
          <a:lnRef idx="0"/>
          <a:fillRef idx="0"/>
          <a:effectRef idx="0"/>
          <a:fontRef idx="minor"/>
        </p:style>
        <p:txBody>
          <a:bodyPr lIns="90000" tIns="45000" rIns="90000" bIns="45000" anchor="t" anchorCtr="1">
            <a:noAutofit/>
          </a:bodyPr>
          <a:p>
            <a:endParaRPr lang="en-GB" sz="1800" b="0" u="none" strike="noStrike">
              <a:solidFill>
                <a:srgbClr val="FFFFFF"/>
              </a:solidFill>
              <a:effectLst/>
              <a:uFillTx/>
              <a:latin typeface="Arial"/>
            </a:endParaRPr>
          </a:p>
        </p:txBody>
      </p:sp>
      <p:sp>
        <p:nvSpPr>
          <p:cNvPr id="57" name="Text 4"/>
          <p:cNvSpPr/>
          <p:nvPr/>
        </p:nvSpPr>
        <p:spPr>
          <a:xfrm>
            <a:off x="1188720" y="1572840"/>
            <a:ext cx="356580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FFFFFF"/>
                </a:solidFill>
                <a:effectLst/>
                <a:uFillTx/>
                <a:latin typeface="Plus Jakarta Sans"/>
                <a:ea typeface="Plus Jakarta Sans"/>
              </a:rPr>
              <a:t>1  Link your partner</a:t>
            </a:r>
            <a:endParaRPr lang="en-GB" sz="1500" b="0" u="none" strike="noStrike">
              <a:solidFill>
                <a:srgbClr val="FFFFFF"/>
              </a:solidFill>
              <a:effectLst/>
              <a:uFillTx/>
              <a:latin typeface="Arial"/>
            </a:endParaRPr>
          </a:p>
        </p:txBody>
      </p:sp>
      <p:sp>
        <p:nvSpPr>
          <p:cNvPr id="58" name="Text 5"/>
          <p:cNvSpPr/>
          <p:nvPr/>
        </p:nvSpPr>
        <p:spPr>
          <a:xfrm>
            <a:off x="1188720" y="1847160"/>
            <a:ext cx="3565800" cy="255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0" u="none" strike="noStrike">
                <a:solidFill>
                  <a:srgbClr val="D4EFEA"/>
                </a:solidFill>
                <a:effectLst/>
                <a:uFillTx/>
                <a:latin typeface="Plus Jakarta Sans"/>
                <a:ea typeface="Plus Jakarta Sans"/>
              </a:rPr>
              <a:t>Scan their code to share one adventure</a:t>
            </a:r>
            <a:endParaRPr lang="en-GB" sz="1200" b="0" u="none" strike="noStrike">
              <a:solidFill>
                <a:srgbClr val="FFFFFF"/>
              </a:solidFill>
              <a:effectLst/>
              <a:uFillTx/>
              <a:latin typeface="Arial"/>
            </a:endParaRPr>
          </a:p>
        </p:txBody>
      </p:sp>
      <p:sp>
        <p:nvSpPr>
          <p:cNvPr id="59" name="Shape 6"/>
          <p:cNvSpPr/>
          <p:nvPr/>
        </p:nvSpPr>
        <p:spPr>
          <a:xfrm>
            <a:off x="457200" y="2331720"/>
            <a:ext cx="548280" cy="548280"/>
          </a:xfrm>
          <a:prstGeom prst="ellipse">
            <a:avLst/>
          </a:prstGeom>
          <a:solidFill>
            <a:srgbClr val="FFFFFF"/>
          </a:solidFill>
          <a:ln w="0">
            <a:noFill/>
          </a:ln>
        </p:spPr>
        <p:style>
          <a:lnRef idx="0"/>
          <a:fillRef idx="0"/>
          <a:effectRef idx="0"/>
          <a:fontRef idx="minor"/>
        </p:style>
        <p:txBody>
          <a:bodyPr lIns="90000" tIns="45000" rIns="90000" bIns="45000" anchor="t">
            <a:noAutofit/>
          </a:bodyPr>
          <a:p>
            <a:endParaRPr lang="en-GB" sz="1800" b="0" u="none" strike="noStrike">
              <a:solidFill>
                <a:srgbClr val="000000"/>
              </a:solidFill>
              <a:effectLst/>
              <a:uFillTx/>
              <a:latin typeface="Arial"/>
            </a:endParaRPr>
          </a:p>
        </p:txBody>
      </p:sp>
      <p:pic>
        <p:nvPicPr>
          <p:cNvPr id="60" name="Image 2" descr="preencoded.png"/>
          <p:cNvPicPr/>
          <p:nvPr/>
        </p:nvPicPr>
        <p:blipFill>
          <a:blip r:embed="rId4"/>
          <a:stretch/>
        </p:blipFill>
        <p:spPr>
          <a:xfrm>
            <a:off x="594360" y="2468880"/>
            <a:ext cx="273960" cy="273960"/>
          </a:xfrm>
          <a:prstGeom prst="rect">
            <a:avLst/>
          </a:prstGeom>
          <a:noFill/>
          <a:ln w="0">
            <a:noFill/>
          </a:ln>
        </p:spPr>
      </p:pic>
      <p:sp>
        <p:nvSpPr>
          <p:cNvPr id="61" name="Shape 7"/>
          <p:cNvSpPr/>
          <p:nvPr/>
        </p:nvSpPr>
        <p:spPr>
          <a:xfrm>
            <a:off x="731520" y="2926080"/>
            <a:ext cx="360" cy="182880"/>
          </a:xfrm>
          <a:prstGeom prst="line">
            <a:avLst/>
          </a:prstGeom>
          <a:ln w="19050">
            <a:solidFill>
              <a:srgbClr val="D4EFEA"/>
            </a:solidFill>
            <a:prstDash val="dash"/>
            <a:round/>
          </a:ln>
        </p:spPr>
        <p:style>
          <a:lnRef idx="0"/>
          <a:fillRef idx="0"/>
          <a:effectRef idx="0"/>
          <a:fontRef idx="minor"/>
        </p:style>
        <p:txBody>
          <a:bodyPr lIns="90000" tIns="45000" rIns="90000" bIns="45000" anchor="t" anchorCtr="1">
            <a:noAutofit/>
          </a:bodyPr>
          <a:p>
            <a:endParaRPr lang="en-GB" sz="1800" b="0" u="none" strike="noStrike">
              <a:solidFill>
                <a:srgbClr val="FFFFFF"/>
              </a:solidFill>
              <a:effectLst/>
              <a:uFillTx/>
              <a:latin typeface="Arial"/>
            </a:endParaRPr>
          </a:p>
        </p:txBody>
      </p:sp>
      <p:sp>
        <p:nvSpPr>
          <p:cNvPr id="62" name="Text 8"/>
          <p:cNvSpPr/>
          <p:nvPr/>
        </p:nvSpPr>
        <p:spPr>
          <a:xfrm>
            <a:off x="1188720" y="2350080"/>
            <a:ext cx="356580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FFFFFF"/>
                </a:solidFill>
                <a:effectLst/>
                <a:uFillTx/>
                <a:latin typeface="Plus Jakarta Sans"/>
                <a:ea typeface="Plus Jakarta Sans"/>
              </a:rPr>
              <a:t>2  Choose a Route</a:t>
            </a:r>
            <a:endParaRPr lang="en-GB" sz="1500" b="0" u="none" strike="noStrike">
              <a:solidFill>
                <a:srgbClr val="FFFFFF"/>
              </a:solidFill>
              <a:effectLst/>
              <a:uFillTx/>
              <a:latin typeface="Arial"/>
            </a:endParaRPr>
          </a:p>
        </p:txBody>
      </p:sp>
      <p:sp>
        <p:nvSpPr>
          <p:cNvPr id="63" name="Text 9"/>
          <p:cNvSpPr/>
          <p:nvPr/>
        </p:nvSpPr>
        <p:spPr>
          <a:xfrm>
            <a:off x="1188720" y="2624400"/>
            <a:ext cx="3565800" cy="255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0" u="none" strike="noStrike">
                <a:solidFill>
                  <a:srgbClr val="D4EFEA"/>
                </a:solidFill>
                <a:effectLst/>
                <a:uFillTx/>
                <a:latin typeface="Plus Jakarta Sans"/>
                <a:ea typeface="Plus Jakarta Sans"/>
              </a:rPr>
              <a:t>A fresh loop from where you stand</a:t>
            </a:r>
            <a:endParaRPr lang="en-GB" sz="1200" b="0" u="none" strike="noStrike">
              <a:solidFill>
                <a:srgbClr val="FFFFFF"/>
              </a:solidFill>
              <a:effectLst/>
              <a:uFillTx/>
              <a:latin typeface="Arial"/>
            </a:endParaRPr>
          </a:p>
        </p:txBody>
      </p:sp>
      <p:sp>
        <p:nvSpPr>
          <p:cNvPr id="64" name="Shape 10"/>
          <p:cNvSpPr/>
          <p:nvPr/>
        </p:nvSpPr>
        <p:spPr>
          <a:xfrm>
            <a:off x="457200" y="3108960"/>
            <a:ext cx="548280" cy="548280"/>
          </a:xfrm>
          <a:prstGeom prst="ellipse">
            <a:avLst/>
          </a:prstGeom>
          <a:solidFill>
            <a:srgbClr val="FFFFFF"/>
          </a:solidFill>
          <a:ln w="0">
            <a:noFill/>
          </a:ln>
        </p:spPr>
        <p:style>
          <a:lnRef idx="0"/>
          <a:fillRef idx="0"/>
          <a:effectRef idx="0"/>
          <a:fontRef idx="minor"/>
        </p:style>
        <p:txBody>
          <a:bodyPr lIns="90000" tIns="45000" rIns="90000" bIns="45000" anchor="t">
            <a:noAutofit/>
          </a:bodyPr>
          <a:p>
            <a:endParaRPr lang="en-GB" sz="1800" b="0" u="none" strike="noStrike">
              <a:solidFill>
                <a:srgbClr val="000000"/>
              </a:solidFill>
              <a:effectLst/>
              <a:uFillTx/>
              <a:latin typeface="Arial"/>
            </a:endParaRPr>
          </a:p>
        </p:txBody>
      </p:sp>
      <p:pic>
        <p:nvPicPr>
          <p:cNvPr id="65" name="Image 3" descr="preencoded.png"/>
          <p:cNvPicPr/>
          <p:nvPr/>
        </p:nvPicPr>
        <p:blipFill>
          <a:blip r:embed="rId5"/>
          <a:stretch/>
        </p:blipFill>
        <p:spPr>
          <a:xfrm>
            <a:off x="594360" y="3246120"/>
            <a:ext cx="273960" cy="273960"/>
          </a:xfrm>
          <a:prstGeom prst="rect">
            <a:avLst/>
          </a:prstGeom>
          <a:noFill/>
          <a:ln w="0">
            <a:noFill/>
          </a:ln>
        </p:spPr>
      </p:pic>
      <p:sp>
        <p:nvSpPr>
          <p:cNvPr id="66" name="Shape 11"/>
          <p:cNvSpPr/>
          <p:nvPr/>
        </p:nvSpPr>
        <p:spPr>
          <a:xfrm>
            <a:off x="731520" y="3703320"/>
            <a:ext cx="360" cy="182880"/>
          </a:xfrm>
          <a:prstGeom prst="line">
            <a:avLst/>
          </a:prstGeom>
          <a:ln w="19050">
            <a:solidFill>
              <a:srgbClr val="D4EFEA"/>
            </a:solidFill>
            <a:prstDash val="dash"/>
            <a:round/>
          </a:ln>
        </p:spPr>
        <p:style>
          <a:lnRef idx="0"/>
          <a:fillRef idx="0"/>
          <a:effectRef idx="0"/>
          <a:fontRef idx="minor"/>
        </p:style>
        <p:txBody>
          <a:bodyPr lIns="90000" tIns="45000" rIns="90000" bIns="45000" anchor="t" anchorCtr="1">
            <a:noAutofit/>
          </a:bodyPr>
          <a:p>
            <a:endParaRPr lang="en-GB" sz="1800" b="0" u="none" strike="noStrike">
              <a:solidFill>
                <a:srgbClr val="FFFFFF"/>
              </a:solidFill>
              <a:effectLst/>
              <a:uFillTx/>
              <a:latin typeface="Arial"/>
            </a:endParaRPr>
          </a:p>
        </p:txBody>
      </p:sp>
      <p:sp>
        <p:nvSpPr>
          <p:cNvPr id="67" name="Text 12"/>
          <p:cNvSpPr/>
          <p:nvPr/>
        </p:nvSpPr>
        <p:spPr>
          <a:xfrm>
            <a:off x="1188720" y="3127320"/>
            <a:ext cx="356580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FFFFFF"/>
                </a:solidFill>
                <a:effectLst/>
                <a:uFillTx/>
                <a:latin typeface="Plus Jakarta Sans"/>
                <a:ea typeface="Plus Jakarta Sans"/>
              </a:rPr>
              <a:t>3  Arrive and talk</a:t>
            </a:r>
            <a:endParaRPr lang="en-GB" sz="1500" b="0" u="none" strike="noStrike">
              <a:solidFill>
                <a:srgbClr val="FFFFFF"/>
              </a:solidFill>
              <a:effectLst/>
              <a:uFillTx/>
              <a:latin typeface="Arial"/>
            </a:endParaRPr>
          </a:p>
        </p:txBody>
      </p:sp>
      <p:sp>
        <p:nvSpPr>
          <p:cNvPr id="68" name="Text 13"/>
          <p:cNvSpPr/>
          <p:nvPr/>
        </p:nvSpPr>
        <p:spPr>
          <a:xfrm>
            <a:off x="1188720" y="3401640"/>
            <a:ext cx="3565800" cy="255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0" u="none" strike="noStrike">
                <a:solidFill>
                  <a:srgbClr val="D4EFEA"/>
                </a:solidFill>
                <a:effectLst/>
                <a:uFillTx/>
                <a:latin typeface="Plus Jakarta Sans"/>
                <a:ea typeface="Plus Jakarta Sans"/>
              </a:rPr>
              <a:t>Each stop unlocks a prompt for you both</a:t>
            </a:r>
            <a:endParaRPr lang="en-GB" sz="1200" b="0" u="none" strike="noStrike">
              <a:solidFill>
                <a:srgbClr val="FFFFFF"/>
              </a:solidFill>
              <a:effectLst/>
              <a:uFillTx/>
              <a:latin typeface="Arial"/>
            </a:endParaRPr>
          </a:p>
        </p:txBody>
      </p:sp>
      <p:sp>
        <p:nvSpPr>
          <p:cNvPr id="69" name="Shape 14"/>
          <p:cNvSpPr/>
          <p:nvPr/>
        </p:nvSpPr>
        <p:spPr>
          <a:xfrm>
            <a:off x="457200" y="3886200"/>
            <a:ext cx="548280" cy="548280"/>
          </a:xfrm>
          <a:prstGeom prst="ellipse">
            <a:avLst/>
          </a:prstGeom>
          <a:solidFill>
            <a:srgbClr val="FFFFFF"/>
          </a:solidFill>
          <a:ln w="0">
            <a:noFill/>
          </a:ln>
        </p:spPr>
        <p:style>
          <a:lnRef idx="0"/>
          <a:fillRef idx="0"/>
          <a:effectRef idx="0"/>
          <a:fontRef idx="minor"/>
        </p:style>
        <p:txBody>
          <a:bodyPr lIns="90000" tIns="45000" rIns="90000" bIns="45000" anchor="t">
            <a:noAutofit/>
          </a:bodyPr>
          <a:p>
            <a:endParaRPr lang="en-GB" sz="1800" b="0" u="none" strike="noStrike">
              <a:solidFill>
                <a:srgbClr val="000000"/>
              </a:solidFill>
              <a:effectLst/>
              <a:uFillTx/>
              <a:latin typeface="Arial"/>
            </a:endParaRPr>
          </a:p>
        </p:txBody>
      </p:sp>
      <p:pic>
        <p:nvPicPr>
          <p:cNvPr id="70" name="Image 4" descr="preencoded.png"/>
          <p:cNvPicPr/>
          <p:nvPr/>
        </p:nvPicPr>
        <p:blipFill>
          <a:blip r:embed="rId6"/>
          <a:stretch/>
        </p:blipFill>
        <p:spPr>
          <a:xfrm>
            <a:off x="594360" y="4023360"/>
            <a:ext cx="273960" cy="273960"/>
          </a:xfrm>
          <a:prstGeom prst="rect">
            <a:avLst/>
          </a:prstGeom>
          <a:noFill/>
          <a:ln w="0">
            <a:noFill/>
          </a:ln>
        </p:spPr>
      </p:pic>
      <p:sp>
        <p:nvSpPr>
          <p:cNvPr id="71" name="Text 15"/>
          <p:cNvSpPr/>
          <p:nvPr/>
        </p:nvSpPr>
        <p:spPr>
          <a:xfrm>
            <a:off x="1188720" y="3904560"/>
            <a:ext cx="356580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FFFFFF"/>
                </a:solidFill>
                <a:effectLst/>
                <a:uFillTx/>
                <a:latin typeface="Plus Jakarta Sans"/>
                <a:ea typeface="Plus Jakarta Sans"/>
              </a:rPr>
              <a:t>4  Snap and collect</a:t>
            </a:r>
            <a:endParaRPr lang="en-GB" sz="1500" b="0" u="none" strike="noStrike">
              <a:solidFill>
                <a:srgbClr val="FFFFFF"/>
              </a:solidFill>
              <a:effectLst/>
              <a:uFillTx/>
              <a:latin typeface="Arial"/>
            </a:endParaRPr>
          </a:p>
        </p:txBody>
      </p:sp>
      <p:sp>
        <p:nvSpPr>
          <p:cNvPr id="72" name="Text 16"/>
          <p:cNvSpPr/>
          <p:nvPr/>
        </p:nvSpPr>
        <p:spPr>
          <a:xfrm>
            <a:off x="1188720" y="4178880"/>
            <a:ext cx="3565800" cy="255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0" u="none" strike="noStrike">
                <a:solidFill>
                  <a:srgbClr val="D4EFEA"/>
                </a:solidFill>
                <a:effectLst/>
                <a:uFillTx/>
                <a:latin typeface="Plus Jakarta Sans"/>
                <a:ea typeface="Plus Jakarta Sans"/>
              </a:rPr>
              <a:t>Your photo lights up the pin on your map</a:t>
            </a:r>
            <a:endParaRPr lang="en-GB" sz="12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3FAF8"/>
        </a:solidFill>
      </p:bgPr>
    </p:bg>
    <p:spTree>
      <p:nvGrpSpPr>
        <p:cNvPr id="1" name=""/>
        <p:cNvGrpSpPr/>
        <p:nvPr/>
      </p:nvGrpSpPr>
      <p:grpSpPr>
        <a:xfrm>
          <a:off x="0" y="0"/>
          <a:ext cx="0" cy="0"/>
          <a:chOff x="0" y="0"/>
          <a:chExt cx="0" cy="0"/>
        </a:xfrm>
      </p:grpSpPr>
      <p:sp>
        <p:nvSpPr>
          <p:cNvPr id="73" name="Text 0"/>
          <p:cNvSpPr/>
          <p:nvPr/>
        </p:nvSpPr>
        <p:spPr>
          <a:xfrm>
            <a:off x="457200" y="365760"/>
            <a:ext cx="4571640" cy="228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1" u="none" spc="201" strike="noStrike">
                <a:solidFill>
                  <a:srgbClr val="2A9D8F"/>
                </a:solidFill>
                <a:effectLst/>
                <a:uFillTx/>
                <a:latin typeface="Plus Jakarta Sans"/>
                <a:ea typeface="Plus Jakarta Sans"/>
              </a:rPr>
              <a:t>VALIDATION · USERS</a:t>
            </a:r>
            <a:endParaRPr lang="en-GB" sz="1100" b="0" u="none" strike="noStrike">
              <a:solidFill>
                <a:srgbClr val="000000"/>
              </a:solidFill>
              <a:effectLst/>
              <a:uFillTx/>
              <a:latin typeface="Arial"/>
            </a:endParaRPr>
          </a:p>
        </p:txBody>
      </p:sp>
      <p:sp>
        <p:nvSpPr>
          <p:cNvPr id="74" name="Text 1"/>
          <p:cNvSpPr/>
          <p:nvPr/>
        </p:nvSpPr>
        <p:spPr>
          <a:xfrm>
            <a:off x="457200" y="594360"/>
            <a:ext cx="822924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600" b="1" u="none" strike="noStrike">
                <a:solidFill>
                  <a:srgbClr val="1B3431"/>
                </a:solidFill>
                <a:effectLst/>
                <a:uFillTx/>
                <a:latin typeface="Plus Jakarta Sans"/>
                <a:ea typeface="Plus Jakarta Sans"/>
              </a:rPr>
              <a:t>What couples told us</a:t>
            </a:r>
            <a:endParaRPr lang="en-GB" sz="2600" b="0" u="none" strike="noStrike">
              <a:solidFill>
                <a:srgbClr val="000000"/>
              </a:solidFill>
              <a:effectLst/>
              <a:uFillTx/>
              <a:latin typeface="Arial"/>
            </a:endParaRPr>
          </a:p>
        </p:txBody>
      </p:sp>
      <p:sp>
        <p:nvSpPr>
          <p:cNvPr id="75" name="Text 2"/>
          <p:cNvSpPr/>
          <p:nvPr/>
        </p:nvSpPr>
        <p:spPr>
          <a:xfrm>
            <a:off x="457200" y="1325880"/>
            <a:ext cx="2559960" cy="228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1" u="none" spc="201" strike="noStrike">
                <a:solidFill>
                  <a:srgbClr val="2A9D8F"/>
                </a:solidFill>
                <a:effectLst/>
                <a:uFillTx/>
                <a:latin typeface="Plus Jakarta Sans"/>
                <a:ea typeface="Plus Jakarta Sans"/>
              </a:rPr>
              <a:t>INTERVIEWS</a:t>
            </a:r>
            <a:endParaRPr lang="en-GB" sz="1100" b="0" u="none" strike="noStrike">
              <a:solidFill>
                <a:srgbClr val="000000"/>
              </a:solidFill>
              <a:effectLst/>
              <a:uFillTx/>
              <a:latin typeface="Arial"/>
            </a:endParaRPr>
          </a:p>
        </p:txBody>
      </p:sp>
      <p:sp>
        <p:nvSpPr>
          <p:cNvPr id="76" name="Text 3"/>
          <p:cNvSpPr/>
          <p:nvPr/>
        </p:nvSpPr>
        <p:spPr>
          <a:xfrm>
            <a:off x="457200" y="1572840"/>
            <a:ext cx="63972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4000" b="1" u="none" strike="noStrike">
                <a:solidFill>
                  <a:srgbClr val="2A9D8F"/>
                </a:solidFill>
                <a:effectLst/>
                <a:uFillTx/>
                <a:latin typeface="Plus Jakarta Sans"/>
                <a:ea typeface="Plus Jakarta Sans"/>
              </a:rPr>
              <a:t>7</a:t>
            </a:r>
            <a:endParaRPr lang="en-GB" sz="4000" b="0" u="none" strike="noStrike">
              <a:solidFill>
                <a:srgbClr val="000000"/>
              </a:solidFill>
              <a:effectLst/>
              <a:uFillTx/>
              <a:latin typeface="Arial"/>
            </a:endParaRPr>
          </a:p>
        </p:txBody>
      </p:sp>
      <p:sp>
        <p:nvSpPr>
          <p:cNvPr id="77" name="Text 4"/>
          <p:cNvSpPr/>
          <p:nvPr/>
        </p:nvSpPr>
        <p:spPr>
          <a:xfrm>
            <a:off x="1051560" y="1673280"/>
            <a:ext cx="1691280" cy="411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0" u="none" strike="noStrike">
                <a:solidFill>
                  <a:srgbClr val="6B8783"/>
                </a:solidFill>
                <a:effectLst/>
                <a:uFillTx/>
                <a:latin typeface="Plus Jakarta Sans"/>
                <a:ea typeface="Plus Jakarta Sans"/>
              </a:rPr>
              <a:t>interviews with people in relationships</a:t>
            </a:r>
            <a:endParaRPr lang="en-GB" sz="1000" b="0" u="none" strike="noStrike">
              <a:solidFill>
                <a:srgbClr val="000000"/>
              </a:solidFill>
              <a:effectLst/>
              <a:uFillTx/>
              <a:latin typeface="Arial"/>
            </a:endParaRPr>
          </a:p>
        </p:txBody>
      </p:sp>
      <p:sp>
        <p:nvSpPr>
          <p:cNvPr id="78" name="Text 5"/>
          <p:cNvSpPr/>
          <p:nvPr/>
        </p:nvSpPr>
        <p:spPr>
          <a:xfrm>
            <a:off x="457200" y="2331720"/>
            <a:ext cx="2377080" cy="2102760"/>
          </a:xfrm>
          <a:prstGeom prst="rect">
            <a:avLst/>
          </a:prstGeom>
          <a:noFill/>
          <a:ln w="0">
            <a:noFill/>
          </a:ln>
        </p:spPr>
        <p:style>
          <a:lnRef idx="0"/>
          <a:fillRef idx="0"/>
          <a:effectRef idx="0"/>
          <a:fontRef idx="minor"/>
        </p:style>
        <p:txBody>
          <a:bodyPr lIns="0" tIns="0" rIns="0" bIns="0" anchor="t">
            <a:noAutofit/>
          </a:bodyPr>
          <a:p>
            <a:pPr defTabSz="914400">
              <a:lnSpc>
                <a:spcPct val="100000"/>
              </a:lnSpc>
              <a:spcAft>
                <a:spcPts val="1001"/>
              </a:spcAft>
              <a:tabLst>
                <a:tab pos="0" algn="l"/>
              </a:tabLst>
            </a:pPr>
            <a:r>
              <a:rPr lang="en-US" sz="1200" b="0" i="1" u="none" strike="noStrike">
                <a:solidFill>
                  <a:srgbClr val="1B3431"/>
                </a:solidFill>
                <a:effectLst/>
                <a:uFillTx/>
                <a:latin typeface="Plus Jakarta Sans"/>
                <a:ea typeface="Plus Jakarta Sans"/>
              </a:rPr>
              <a:t>“The more dates, the more they repeat.”</a:t>
            </a:r>
            <a:endParaRPr lang="en-GB" sz="1200" b="0" u="none" strike="noStrike">
              <a:solidFill>
                <a:srgbClr val="000000"/>
              </a:solidFill>
              <a:effectLst/>
              <a:uFillTx/>
              <a:latin typeface="Arial"/>
            </a:endParaRPr>
          </a:p>
          <a:p>
            <a:pPr defTabSz="914400">
              <a:lnSpc>
                <a:spcPct val="100000"/>
              </a:lnSpc>
              <a:spcAft>
                <a:spcPts val="1001"/>
              </a:spcAft>
              <a:tabLst>
                <a:tab pos="0" algn="l"/>
              </a:tabLst>
            </a:pPr>
            <a:r>
              <a:rPr lang="en-US" sz="1200" b="0" i="1" u="none" strike="noStrike">
                <a:solidFill>
                  <a:srgbClr val="1B3431"/>
                </a:solidFill>
                <a:effectLst/>
                <a:uFillTx/>
                <a:latin typeface="Plus Jakarta Sans"/>
                <a:ea typeface="Plus Jakarta Sans"/>
              </a:rPr>
              <a:t>“We take photos but never really collect them.”</a:t>
            </a:r>
            <a:endParaRPr lang="en-GB" sz="1200" b="0" u="none" strike="noStrike">
              <a:solidFill>
                <a:srgbClr val="000000"/>
              </a:solidFill>
              <a:effectLst/>
              <a:uFillTx/>
              <a:latin typeface="Arial"/>
            </a:endParaRPr>
          </a:p>
          <a:p>
            <a:pPr defTabSz="914400">
              <a:lnSpc>
                <a:spcPct val="100000"/>
              </a:lnSpc>
              <a:spcAft>
                <a:spcPts val="1001"/>
              </a:spcAft>
              <a:tabLst>
                <a:tab pos="0" algn="l"/>
              </a:tabLst>
            </a:pPr>
            <a:r>
              <a:rPr lang="en-US" sz="1200" b="0" i="1" u="none" strike="noStrike">
                <a:solidFill>
                  <a:srgbClr val="1B3431"/>
                </a:solidFill>
                <a:effectLst/>
                <a:uFillTx/>
                <a:latin typeface="Plus Jakarta Sans"/>
                <a:ea typeface="Plus Jakarta Sans"/>
              </a:rPr>
              <a:t>“An external nudge wouldn’t hurt.”</a:t>
            </a:r>
            <a:endParaRPr lang="en-GB" sz="1200" b="0" u="none" strike="noStrike">
              <a:solidFill>
                <a:srgbClr val="000000"/>
              </a:solidFill>
              <a:effectLst/>
              <a:uFillTx/>
              <a:latin typeface="Arial"/>
            </a:endParaRPr>
          </a:p>
        </p:txBody>
      </p:sp>
      <p:sp>
        <p:nvSpPr>
          <p:cNvPr id="79" name="Text 6"/>
          <p:cNvSpPr/>
          <p:nvPr/>
        </p:nvSpPr>
        <p:spPr>
          <a:xfrm>
            <a:off x="3154680" y="1325880"/>
            <a:ext cx="2559960" cy="228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1" u="none" spc="201" strike="noStrike">
                <a:solidFill>
                  <a:srgbClr val="2A9D8F"/>
                </a:solidFill>
                <a:effectLst/>
                <a:uFillTx/>
                <a:latin typeface="Plus Jakarta Sans"/>
                <a:ea typeface="Plus Jakarta Sans"/>
              </a:rPr>
              <a:t>LESSONS LEARNED</a:t>
            </a:r>
            <a:endParaRPr lang="en-GB" sz="1100" b="0" u="none" strike="noStrike">
              <a:solidFill>
                <a:srgbClr val="000000"/>
              </a:solidFill>
              <a:effectLst/>
              <a:uFillTx/>
              <a:latin typeface="Arial"/>
            </a:endParaRPr>
          </a:p>
        </p:txBody>
      </p:sp>
      <p:sp>
        <p:nvSpPr>
          <p:cNvPr id="80" name="Shape 7"/>
          <p:cNvSpPr/>
          <p:nvPr/>
        </p:nvSpPr>
        <p:spPr>
          <a:xfrm>
            <a:off x="3154680" y="1710000"/>
            <a:ext cx="273960" cy="273960"/>
          </a:xfrm>
          <a:prstGeom prst="ellipse">
            <a:avLst/>
          </a:prstGeom>
          <a:solidFill>
            <a:srgbClr val="D4EFEA"/>
          </a:solidFill>
          <a:ln w="0">
            <a:noFill/>
          </a:ln>
        </p:spPr>
        <p:style>
          <a:lnRef idx="0"/>
          <a:fillRef idx="0"/>
          <a:effectRef idx="0"/>
          <a:fontRef idx="minor"/>
        </p:style>
        <p:txBody>
          <a:bodyPr lIns="90000" tIns="45000" rIns="90000" bIns="45000" anchor="t">
            <a:noAutofit/>
          </a:bodyPr>
          <a:p>
            <a:endParaRPr lang="en-GB" sz="1800" b="0" u="none" strike="noStrike">
              <a:solidFill>
                <a:srgbClr val="000000"/>
              </a:solidFill>
              <a:effectLst/>
              <a:uFillTx/>
              <a:latin typeface="Arial"/>
            </a:endParaRPr>
          </a:p>
        </p:txBody>
      </p:sp>
      <p:pic>
        <p:nvPicPr>
          <p:cNvPr id="81" name="Image 0" descr="preencoded.png"/>
          <p:cNvPicPr/>
          <p:nvPr/>
        </p:nvPicPr>
        <p:blipFill>
          <a:blip r:embed="rId1"/>
          <a:stretch/>
        </p:blipFill>
        <p:spPr>
          <a:xfrm>
            <a:off x="3218760" y="1774080"/>
            <a:ext cx="145800" cy="145800"/>
          </a:xfrm>
          <a:prstGeom prst="rect">
            <a:avLst/>
          </a:prstGeom>
          <a:noFill/>
          <a:ln w="0">
            <a:noFill/>
          </a:ln>
        </p:spPr>
      </p:pic>
      <p:sp>
        <p:nvSpPr>
          <p:cNvPr id="82" name="Text 8"/>
          <p:cNvSpPr/>
          <p:nvPr/>
        </p:nvSpPr>
        <p:spPr>
          <a:xfrm>
            <a:off x="3566160" y="1691640"/>
            <a:ext cx="2285640" cy="4752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150" b="0" u="none" strike="noStrike">
                <a:solidFill>
                  <a:srgbClr val="1B3431"/>
                </a:solidFill>
                <a:effectLst/>
                <a:uFillTx/>
                <a:latin typeface="Plus Jakarta Sans"/>
                <a:ea typeface="Plus Jakarta Sans"/>
              </a:rPr>
              <a:t>Most have never paid for a scavenger hunt</a:t>
            </a:r>
            <a:endParaRPr lang="en-GB" sz="1150" b="0" u="none" strike="noStrike">
              <a:solidFill>
                <a:srgbClr val="000000"/>
              </a:solidFill>
              <a:effectLst/>
              <a:uFillTx/>
              <a:latin typeface="Arial"/>
            </a:endParaRPr>
          </a:p>
        </p:txBody>
      </p:sp>
      <p:sp>
        <p:nvSpPr>
          <p:cNvPr id="83" name="Shape 9"/>
          <p:cNvSpPr/>
          <p:nvPr/>
        </p:nvSpPr>
        <p:spPr>
          <a:xfrm>
            <a:off x="3154680" y="2368440"/>
            <a:ext cx="273960" cy="273960"/>
          </a:xfrm>
          <a:prstGeom prst="ellipse">
            <a:avLst/>
          </a:prstGeom>
          <a:solidFill>
            <a:srgbClr val="D4EFEA"/>
          </a:solidFill>
          <a:ln w="0">
            <a:noFill/>
          </a:ln>
        </p:spPr>
        <p:style>
          <a:lnRef idx="0"/>
          <a:fillRef idx="0"/>
          <a:effectRef idx="0"/>
          <a:fontRef idx="minor"/>
        </p:style>
        <p:txBody>
          <a:bodyPr lIns="90000" tIns="45000" rIns="90000" bIns="45000" anchor="t">
            <a:noAutofit/>
          </a:bodyPr>
          <a:p>
            <a:endParaRPr lang="en-GB" sz="1800" b="0" u="none" strike="noStrike">
              <a:solidFill>
                <a:srgbClr val="000000"/>
              </a:solidFill>
              <a:effectLst/>
              <a:uFillTx/>
              <a:latin typeface="Arial"/>
            </a:endParaRPr>
          </a:p>
        </p:txBody>
      </p:sp>
      <p:pic>
        <p:nvPicPr>
          <p:cNvPr id="84" name="Image 1" descr="preencoded.png"/>
          <p:cNvPicPr/>
          <p:nvPr/>
        </p:nvPicPr>
        <p:blipFill>
          <a:blip r:embed="rId2"/>
          <a:stretch/>
        </p:blipFill>
        <p:spPr>
          <a:xfrm>
            <a:off x="3218760" y="2432160"/>
            <a:ext cx="145800" cy="145800"/>
          </a:xfrm>
          <a:prstGeom prst="rect">
            <a:avLst/>
          </a:prstGeom>
          <a:noFill/>
          <a:ln w="0">
            <a:noFill/>
          </a:ln>
        </p:spPr>
      </p:pic>
      <p:sp>
        <p:nvSpPr>
          <p:cNvPr id="85" name="Text 10"/>
          <p:cNvSpPr/>
          <p:nvPr/>
        </p:nvSpPr>
        <p:spPr>
          <a:xfrm>
            <a:off x="3566160" y="2350080"/>
            <a:ext cx="2285640" cy="4752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150" b="0" u="none" strike="noStrike">
                <a:solidFill>
                  <a:srgbClr val="1B3431"/>
                </a:solidFill>
                <a:effectLst/>
                <a:uFillTx/>
                <a:latin typeface="Plus Jakarta Sans"/>
                <a:ea typeface="Plus Jakarta Sans"/>
              </a:rPr>
              <a:t>None has ever paid for date ideas</a:t>
            </a:r>
            <a:endParaRPr lang="en-GB" sz="1150" b="0" u="none" strike="noStrike">
              <a:solidFill>
                <a:srgbClr val="000000"/>
              </a:solidFill>
              <a:effectLst/>
              <a:uFillTx/>
              <a:latin typeface="Arial"/>
            </a:endParaRPr>
          </a:p>
        </p:txBody>
      </p:sp>
      <p:sp>
        <p:nvSpPr>
          <p:cNvPr id="86" name="Shape 11"/>
          <p:cNvSpPr/>
          <p:nvPr/>
        </p:nvSpPr>
        <p:spPr>
          <a:xfrm>
            <a:off x="3154680" y="3026520"/>
            <a:ext cx="273960" cy="273960"/>
          </a:xfrm>
          <a:prstGeom prst="ellipse">
            <a:avLst/>
          </a:prstGeom>
          <a:solidFill>
            <a:srgbClr val="D4EFEA"/>
          </a:solidFill>
          <a:ln w="0">
            <a:noFill/>
          </a:ln>
        </p:spPr>
        <p:style>
          <a:lnRef idx="0"/>
          <a:fillRef idx="0"/>
          <a:effectRef idx="0"/>
          <a:fontRef idx="minor"/>
        </p:style>
        <p:txBody>
          <a:bodyPr lIns="90000" tIns="45000" rIns="90000" bIns="45000" anchor="t">
            <a:noAutofit/>
          </a:bodyPr>
          <a:p>
            <a:endParaRPr lang="en-GB" sz="1800" b="0" u="none" strike="noStrike">
              <a:solidFill>
                <a:srgbClr val="000000"/>
              </a:solidFill>
              <a:effectLst/>
              <a:uFillTx/>
              <a:latin typeface="Arial"/>
            </a:endParaRPr>
          </a:p>
        </p:txBody>
      </p:sp>
      <p:pic>
        <p:nvPicPr>
          <p:cNvPr id="87" name="Image 2" descr="preencoded.png"/>
          <p:cNvPicPr/>
          <p:nvPr/>
        </p:nvPicPr>
        <p:blipFill>
          <a:blip r:embed="rId3"/>
          <a:stretch/>
        </p:blipFill>
        <p:spPr>
          <a:xfrm>
            <a:off x="3218760" y="3090600"/>
            <a:ext cx="145800" cy="145800"/>
          </a:xfrm>
          <a:prstGeom prst="rect">
            <a:avLst/>
          </a:prstGeom>
          <a:noFill/>
          <a:ln w="0">
            <a:noFill/>
          </a:ln>
        </p:spPr>
      </p:pic>
      <p:sp>
        <p:nvSpPr>
          <p:cNvPr id="88" name="Text 12"/>
          <p:cNvSpPr/>
          <p:nvPr/>
        </p:nvSpPr>
        <p:spPr>
          <a:xfrm>
            <a:off x="3566160" y="3008520"/>
            <a:ext cx="2285640" cy="4752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150" b="0" u="none" strike="noStrike">
                <a:solidFill>
                  <a:srgbClr val="1B3431"/>
                </a:solidFill>
                <a:effectLst/>
                <a:uFillTx/>
                <a:latin typeface="Plus Jakarta Sans"/>
                <a:ea typeface="Plus Jakarta Sans"/>
              </a:rPr>
              <a:t>New couples have ideas to spare; established couples run dry</a:t>
            </a:r>
            <a:endParaRPr lang="en-GB" sz="1150" b="0" u="none" strike="noStrike">
              <a:solidFill>
                <a:srgbClr val="000000"/>
              </a:solidFill>
              <a:effectLst/>
              <a:uFillTx/>
              <a:latin typeface="Arial"/>
            </a:endParaRPr>
          </a:p>
        </p:txBody>
      </p:sp>
      <p:sp>
        <p:nvSpPr>
          <p:cNvPr id="89" name="Shape 13"/>
          <p:cNvSpPr/>
          <p:nvPr/>
        </p:nvSpPr>
        <p:spPr>
          <a:xfrm>
            <a:off x="3154680" y="3684960"/>
            <a:ext cx="273960" cy="273960"/>
          </a:xfrm>
          <a:prstGeom prst="ellipse">
            <a:avLst/>
          </a:prstGeom>
          <a:solidFill>
            <a:srgbClr val="D4EFEA"/>
          </a:solidFill>
          <a:ln w="0">
            <a:noFill/>
          </a:ln>
        </p:spPr>
        <p:style>
          <a:lnRef idx="0"/>
          <a:fillRef idx="0"/>
          <a:effectRef idx="0"/>
          <a:fontRef idx="minor"/>
        </p:style>
        <p:txBody>
          <a:bodyPr lIns="90000" tIns="45000" rIns="90000" bIns="45000" anchor="t">
            <a:noAutofit/>
          </a:bodyPr>
          <a:p>
            <a:endParaRPr lang="en-GB" sz="1800" b="0" u="none" strike="noStrike">
              <a:solidFill>
                <a:srgbClr val="000000"/>
              </a:solidFill>
              <a:effectLst/>
              <a:uFillTx/>
              <a:latin typeface="Arial"/>
            </a:endParaRPr>
          </a:p>
        </p:txBody>
      </p:sp>
      <p:pic>
        <p:nvPicPr>
          <p:cNvPr id="90" name="Image 3" descr="preencoded.png"/>
          <p:cNvPicPr/>
          <p:nvPr/>
        </p:nvPicPr>
        <p:blipFill>
          <a:blip r:embed="rId4"/>
          <a:stretch/>
        </p:blipFill>
        <p:spPr>
          <a:xfrm>
            <a:off x="3218760" y="3749040"/>
            <a:ext cx="145800" cy="145800"/>
          </a:xfrm>
          <a:prstGeom prst="rect">
            <a:avLst/>
          </a:prstGeom>
          <a:noFill/>
          <a:ln w="0">
            <a:noFill/>
          </a:ln>
        </p:spPr>
      </p:pic>
      <p:sp>
        <p:nvSpPr>
          <p:cNvPr id="91" name="Text 14"/>
          <p:cNvSpPr/>
          <p:nvPr/>
        </p:nvSpPr>
        <p:spPr>
          <a:xfrm>
            <a:off x="3566160" y="3666600"/>
            <a:ext cx="2285640" cy="4752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150" b="0" u="none" strike="noStrike">
                <a:solidFill>
                  <a:srgbClr val="1B3431"/>
                </a:solidFill>
                <a:effectLst/>
                <a:uFillTx/>
                <a:latin typeface="Plus Jakarta Sans"/>
                <a:ea typeface="Plus Jakarta Sans"/>
              </a:rPr>
              <a:t>Everyone craves deeper connection and intimacy</a:t>
            </a:r>
            <a:endParaRPr lang="en-GB" sz="1150" b="0" u="none" strike="noStrike">
              <a:solidFill>
                <a:srgbClr val="000000"/>
              </a:solidFill>
              <a:effectLst/>
              <a:uFillTx/>
              <a:latin typeface="Arial"/>
            </a:endParaRPr>
          </a:p>
        </p:txBody>
      </p:sp>
      <p:sp>
        <p:nvSpPr>
          <p:cNvPr id="92" name="Text 15"/>
          <p:cNvSpPr/>
          <p:nvPr/>
        </p:nvSpPr>
        <p:spPr>
          <a:xfrm>
            <a:off x="6080760" y="1325880"/>
            <a:ext cx="2559960" cy="228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1" u="none" spc="201" strike="noStrike">
                <a:solidFill>
                  <a:srgbClr val="2A9D8F"/>
                </a:solidFill>
                <a:effectLst/>
                <a:uFillTx/>
                <a:latin typeface="Plus Jakarta Sans"/>
                <a:ea typeface="Plus Jakarta Sans"/>
              </a:rPr>
              <a:t>PIVOTS</a:t>
            </a:r>
            <a:endParaRPr lang="en-GB" sz="1100" b="0" u="none" strike="noStrike">
              <a:solidFill>
                <a:srgbClr val="000000"/>
              </a:solidFill>
              <a:effectLst/>
              <a:uFillTx/>
              <a:latin typeface="Arial"/>
            </a:endParaRPr>
          </a:p>
        </p:txBody>
      </p:sp>
      <p:sp>
        <p:nvSpPr>
          <p:cNvPr id="93" name="Shape 16"/>
          <p:cNvSpPr/>
          <p:nvPr/>
        </p:nvSpPr>
        <p:spPr>
          <a:xfrm>
            <a:off x="6080760" y="1691640"/>
            <a:ext cx="2605680" cy="1096920"/>
          </a:xfrm>
          <a:prstGeom prst="roundRect">
            <a:avLst>
              <a:gd name="adj" fmla="val 10000"/>
            </a:avLst>
          </a:prstGeom>
          <a:solidFill>
            <a:srgbClr val="FFFFFF"/>
          </a:solidFill>
          <a:ln w="0">
            <a:noFill/>
          </a:ln>
          <a:effectLst>
            <a:outerShdw algn="bl" blurRad="152280" dir="5400000" dist="38160" kx="0" ky="0" rotWithShape="0" sx="100000" sy="100000">
              <a:srgbClr val="1F7D72">
                <a:alpha val="12000"/>
              </a:srgbClr>
            </a:outerShdw>
          </a:effectLst>
        </p:spPr>
        <p:style>
          <a:lnRef idx="0"/>
          <a:fillRef idx="0"/>
          <a:effectRef idx="0"/>
          <a:fontRef idx="minor"/>
        </p:style>
        <p:txBody>
          <a:bodyPr lIns="90000" tIns="45000" rIns="90000" bIns="45000" anchor="t">
            <a:noAutofit/>
          </a:bodyPr>
          <a:p>
            <a:endParaRPr lang="en-GB" sz="1800" b="0" u="none" strike="noStrike">
              <a:solidFill>
                <a:srgbClr val="000000"/>
              </a:solidFill>
              <a:effectLst/>
              <a:uFillTx/>
              <a:latin typeface="Arial"/>
            </a:endParaRPr>
          </a:p>
        </p:txBody>
      </p:sp>
      <p:sp>
        <p:nvSpPr>
          <p:cNvPr id="94" name="Text 17"/>
          <p:cNvSpPr/>
          <p:nvPr/>
        </p:nvSpPr>
        <p:spPr>
          <a:xfrm>
            <a:off x="6236280" y="1810440"/>
            <a:ext cx="233136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50" b="0" u="none" strike="sngStrike">
                <a:solidFill>
                  <a:srgbClr val="6B8783"/>
                </a:solidFill>
                <a:effectLst/>
                <a:uFillTx/>
                <a:latin typeface="Plus Jakarta Sans"/>
                <a:ea typeface="Plus Jakarta Sans"/>
              </a:rPr>
              <a:t>A generic scavenger hunt</a:t>
            </a:r>
            <a:endParaRPr lang="en-GB" sz="1050" b="0" u="none" strike="noStrike">
              <a:solidFill>
                <a:srgbClr val="000000"/>
              </a:solidFill>
              <a:effectLst/>
              <a:uFillTx/>
              <a:latin typeface="Arial"/>
            </a:endParaRPr>
          </a:p>
        </p:txBody>
      </p:sp>
      <p:pic>
        <p:nvPicPr>
          <p:cNvPr id="95" name="Image 4" descr="preencoded.png"/>
          <p:cNvPicPr/>
          <p:nvPr/>
        </p:nvPicPr>
        <p:blipFill>
          <a:blip r:embed="rId5"/>
          <a:stretch/>
        </p:blipFill>
        <p:spPr>
          <a:xfrm>
            <a:off x="6236280" y="2212920"/>
            <a:ext cx="182520" cy="182520"/>
          </a:xfrm>
          <a:prstGeom prst="rect">
            <a:avLst/>
          </a:prstGeom>
          <a:noFill/>
          <a:ln w="0">
            <a:noFill/>
          </a:ln>
        </p:spPr>
      </p:pic>
      <p:sp>
        <p:nvSpPr>
          <p:cNvPr id="96" name="Text 18"/>
          <p:cNvSpPr/>
          <p:nvPr/>
        </p:nvSpPr>
        <p:spPr>
          <a:xfrm>
            <a:off x="6492240" y="2148840"/>
            <a:ext cx="2057040" cy="5482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250" b="1" u="none" strike="noStrike">
                <a:solidFill>
                  <a:srgbClr val="1B3431"/>
                </a:solidFill>
                <a:effectLst/>
                <a:uFillTx/>
                <a:latin typeface="Plus Jakarta Sans"/>
                <a:ea typeface="Plus Jakarta Sans"/>
              </a:rPr>
              <a:t>An app built for couples</a:t>
            </a:r>
            <a:endParaRPr lang="en-GB" sz="1250" b="0" u="none" strike="noStrike">
              <a:solidFill>
                <a:srgbClr val="000000"/>
              </a:solidFill>
              <a:effectLst/>
              <a:uFillTx/>
              <a:latin typeface="Arial"/>
            </a:endParaRPr>
          </a:p>
        </p:txBody>
      </p:sp>
      <p:sp>
        <p:nvSpPr>
          <p:cNvPr id="97" name="Shape 19"/>
          <p:cNvSpPr/>
          <p:nvPr/>
        </p:nvSpPr>
        <p:spPr>
          <a:xfrm>
            <a:off x="6080760" y="2926080"/>
            <a:ext cx="2605680" cy="1096920"/>
          </a:xfrm>
          <a:prstGeom prst="roundRect">
            <a:avLst>
              <a:gd name="adj" fmla="val 10000"/>
            </a:avLst>
          </a:prstGeom>
          <a:solidFill>
            <a:srgbClr val="FFFFFF"/>
          </a:solidFill>
          <a:ln w="0">
            <a:noFill/>
          </a:ln>
          <a:effectLst>
            <a:outerShdw algn="bl" blurRad="152280" dir="5400000" dist="38160" kx="0" ky="0" rotWithShape="0" sx="100000" sy="100000">
              <a:srgbClr val="1F7D72">
                <a:alpha val="12000"/>
              </a:srgbClr>
            </a:outerShdw>
          </a:effectLst>
        </p:spPr>
        <p:style>
          <a:lnRef idx="0"/>
          <a:fillRef idx="0"/>
          <a:effectRef idx="0"/>
          <a:fontRef idx="minor"/>
        </p:style>
        <p:txBody>
          <a:bodyPr lIns="90000" tIns="45000" rIns="90000" bIns="45000" anchor="t">
            <a:noAutofit/>
          </a:bodyPr>
          <a:p>
            <a:endParaRPr lang="en-GB" sz="1800" b="0" u="none" strike="noStrike">
              <a:solidFill>
                <a:srgbClr val="000000"/>
              </a:solidFill>
              <a:effectLst/>
              <a:uFillTx/>
              <a:latin typeface="Arial"/>
            </a:endParaRPr>
          </a:p>
        </p:txBody>
      </p:sp>
      <p:sp>
        <p:nvSpPr>
          <p:cNvPr id="98" name="Text 20"/>
          <p:cNvSpPr/>
          <p:nvPr/>
        </p:nvSpPr>
        <p:spPr>
          <a:xfrm>
            <a:off x="6236280" y="3044880"/>
            <a:ext cx="233136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50" b="0" u="none" strike="sngStrike">
                <a:solidFill>
                  <a:srgbClr val="6B8783"/>
                </a:solidFill>
                <a:effectLst/>
                <a:uFillTx/>
                <a:latin typeface="Plus Jakarta Sans"/>
                <a:ea typeface="Plus Jakarta Sans"/>
              </a:rPr>
              <a:t>Whimsical games</a:t>
            </a:r>
            <a:endParaRPr lang="en-GB" sz="1050" b="0" u="none" strike="noStrike">
              <a:solidFill>
                <a:srgbClr val="000000"/>
              </a:solidFill>
              <a:effectLst/>
              <a:uFillTx/>
              <a:latin typeface="Arial"/>
            </a:endParaRPr>
          </a:p>
        </p:txBody>
      </p:sp>
      <p:pic>
        <p:nvPicPr>
          <p:cNvPr id="99" name="Image 5" descr="preencoded.png"/>
          <p:cNvPicPr/>
          <p:nvPr/>
        </p:nvPicPr>
        <p:blipFill>
          <a:blip r:embed="rId6"/>
          <a:stretch/>
        </p:blipFill>
        <p:spPr>
          <a:xfrm>
            <a:off x="6236280" y="3447360"/>
            <a:ext cx="182520" cy="182520"/>
          </a:xfrm>
          <a:prstGeom prst="rect">
            <a:avLst/>
          </a:prstGeom>
          <a:noFill/>
          <a:ln w="0">
            <a:noFill/>
          </a:ln>
        </p:spPr>
      </p:pic>
      <p:sp>
        <p:nvSpPr>
          <p:cNvPr id="100" name="Text 21"/>
          <p:cNvSpPr/>
          <p:nvPr/>
        </p:nvSpPr>
        <p:spPr>
          <a:xfrm>
            <a:off x="6492240" y="3383280"/>
            <a:ext cx="2057040" cy="5482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250" b="1" u="none" strike="noStrike">
                <a:solidFill>
                  <a:srgbClr val="1B3431"/>
                </a:solidFill>
                <a:effectLst/>
                <a:uFillTx/>
                <a:latin typeface="Plus Jakarta Sans"/>
                <a:ea typeface="Plus Jakarta Sans"/>
              </a:rPr>
              <a:t>Activities that deepen connection</a:t>
            </a:r>
            <a:endParaRPr lang="en-GB" sz="12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3FAF8"/>
        </a:solidFill>
      </p:bgPr>
    </p:bg>
    <p:spTree>
      <p:nvGrpSpPr>
        <p:cNvPr id="1" name=""/>
        <p:cNvGrpSpPr/>
        <p:nvPr/>
      </p:nvGrpSpPr>
      <p:grpSpPr>
        <a:xfrm>
          <a:off x="0" y="0"/>
          <a:ext cx="0" cy="0"/>
          <a:chOff x="0" y="0"/>
          <a:chExt cx="0" cy="0"/>
        </a:xfrm>
      </p:grpSpPr>
      <p:sp>
        <p:nvSpPr>
          <p:cNvPr id="101" name="Text 0"/>
          <p:cNvSpPr/>
          <p:nvPr/>
        </p:nvSpPr>
        <p:spPr>
          <a:xfrm>
            <a:off x="457200" y="365760"/>
            <a:ext cx="4571640" cy="228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1" u="none" spc="201" strike="noStrike">
                <a:solidFill>
                  <a:srgbClr val="2A9D8F"/>
                </a:solidFill>
                <a:effectLst/>
                <a:uFillTx/>
                <a:latin typeface="Plus Jakarta Sans"/>
                <a:ea typeface="Plus Jakarta Sans"/>
              </a:rPr>
              <a:t>VALIDATION · MARKET</a:t>
            </a:r>
            <a:endParaRPr lang="en-GB" sz="1100" b="0" u="none" strike="noStrike">
              <a:solidFill>
                <a:srgbClr val="000000"/>
              </a:solidFill>
              <a:effectLst/>
              <a:uFillTx/>
              <a:latin typeface="Arial"/>
            </a:endParaRPr>
          </a:p>
        </p:txBody>
      </p:sp>
      <p:sp>
        <p:nvSpPr>
          <p:cNvPr id="102" name="Text 1"/>
          <p:cNvSpPr/>
          <p:nvPr/>
        </p:nvSpPr>
        <p:spPr>
          <a:xfrm>
            <a:off x="457200" y="594360"/>
            <a:ext cx="822924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600" b="1" u="none" strike="noStrike">
                <a:solidFill>
                  <a:srgbClr val="1B3431"/>
                </a:solidFill>
                <a:effectLst/>
                <a:uFillTx/>
                <a:latin typeface="Plus Jakarta Sans"/>
                <a:ea typeface="Plus Jakarta Sans"/>
              </a:rPr>
              <a:t>Where the market leaves a gap</a:t>
            </a:r>
            <a:endParaRPr lang="en-GB" sz="2600" b="0" u="none" strike="noStrike">
              <a:solidFill>
                <a:srgbClr val="000000"/>
              </a:solidFill>
              <a:effectLst/>
              <a:uFillTx/>
              <a:latin typeface="Arial"/>
            </a:endParaRPr>
          </a:p>
        </p:txBody>
      </p:sp>
      <p:sp>
        <p:nvSpPr>
          <p:cNvPr id="103" name="Text 2"/>
          <p:cNvSpPr/>
          <p:nvPr/>
        </p:nvSpPr>
        <p:spPr>
          <a:xfrm>
            <a:off x="457200" y="1325880"/>
            <a:ext cx="2559960" cy="228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1" u="none" spc="201" strike="noStrike">
                <a:solidFill>
                  <a:srgbClr val="2A9D8F"/>
                </a:solidFill>
                <a:effectLst/>
                <a:uFillTx/>
                <a:latin typeface="Plus Jakarta Sans"/>
                <a:ea typeface="Plus Jakarta Sans"/>
              </a:rPr>
              <a:t>COMPETITORS</a:t>
            </a:r>
            <a:endParaRPr lang="en-GB" sz="1100" b="0" u="none" strike="noStrike">
              <a:solidFill>
                <a:srgbClr val="000000"/>
              </a:solidFill>
              <a:effectLst/>
              <a:uFillTx/>
              <a:latin typeface="Arial"/>
            </a:endParaRPr>
          </a:p>
        </p:txBody>
      </p:sp>
      <p:sp>
        <p:nvSpPr>
          <p:cNvPr id="104" name="Shape 3"/>
          <p:cNvSpPr/>
          <p:nvPr/>
        </p:nvSpPr>
        <p:spPr>
          <a:xfrm>
            <a:off x="457200" y="1691640"/>
            <a:ext cx="2468520" cy="895680"/>
          </a:xfrm>
          <a:prstGeom prst="roundRect">
            <a:avLst>
              <a:gd name="adj" fmla="val 12245"/>
            </a:avLst>
          </a:prstGeom>
          <a:solidFill>
            <a:srgbClr val="FFFFFF"/>
          </a:solidFill>
          <a:ln w="0">
            <a:noFill/>
          </a:ln>
          <a:effectLst>
            <a:outerShdw algn="bl" blurRad="152280" dir="5400000" dist="38160" kx="0" ky="0" rotWithShape="0" sx="100000" sy="100000">
              <a:srgbClr val="1F7D72">
                <a:alpha val="12000"/>
              </a:srgbClr>
            </a:outerShdw>
          </a:effectLst>
        </p:spPr>
        <p:style>
          <a:lnRef idx="0"/>
          <a:fillRef idx="0"/>
          <a:effectRef idx="0"/>
          <a:fontRef idx="minor"/>
        </p:style>
        <p:txBody>
          <a:bodyPr lIns="90000" tIns="45000" rIns="90000" bIns="45000" anchor="t">
            <a:noAutofit/>
          </a:bodyPr>
          <a:p>
            <a:endParaRPr lang="en-GB" sz="1800" b="0" u="none" strike="noStrike">
              <a:solidFill>
                <a:srgbClr val="000000"/>
              </a:solidFill>
              <a:effectLst/>
              <a:uFillTx/>
              <a:latin typeface="Arial"/>
            </a:endParaRPr>
          </a:p>
        </p:txBody>
      </p:sp>
      <p:sp>
        <p:nvSpPr>
          <p:cNvPr id="105" name="Text 4"/>
          <p:cNvSpPr/>
          <p:nvPr/>
        </p:nvSpPr>
        <p:spPr>
          <a:xfrm>
            <a:off x="594360" y="1783080"/>
            <a:ext cx="1599840" cy="237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50" b="1" u="none" strike="noStrike">
                <a:solidFill>
                  <a:srgbClr val="1B3431"/>
                </a:solidFill>
                <a:effectLst/>
                <a:uFillTx/>
                <a:latin typeface="Plus Jakarta Sans"/>
                <a:ea typeface="Plus Jakarta Sans"/>
              </a:rPr>
              <a:t>Let’s Roam</a:t>
            </a:r>
            <a:endParaRPr lang="en-GB" sz="1150" b="0" u="none" strike="noStrike">
              <a:solidFill>
                <a:srgbClr val="000000"/>
              </a:solidFill>
              <a:effectLst/>
              <a:uFillTx/>
              <a:latin typeface="Arial"/>
            </a:endParaRPr>
          </a:p>
        </p:txBody>
      </p:sp>
      <p:sp>
        <p:nvSpPr>
          <p:cNvPr id="106" name="Shape 5"/>
          <p:cNvSpPr/>
          <p:nvPr/>
        </p:nvSpPr>
        <p:spPr>
          <a:xfrm>
            <a:off x="2240280" y="1783080"/>
            <a:ext cx="548280" cy="237240"/>
          </a:xfrm>
          <a:prstGeom prst="roundRect">
            <a:avLst>
              <a:gd name="adj" fmla="val 50000"/>
            </a:avLst>
          </a:prstGeom>
          <a:solidFill>
            <a:srgbClr val="D4EFEA"/>
          </a:solidFill>
          <a:ln w="0">
            <a:noFill/>
          </a:ln>
        </p:spPr>
        <p:style>
          <a:lnRef idx="0"/>
          <a:fillRef idx="0"/>
          <a:effectRef idx="0"/>
          <a:fontRef idx="minor"/>
        </p:style>
        <p:txBody>
          <a:bodyPr lIns="90000" tIns="45000" rIns="90000" bIns="45000" anchor="t">
            <a:noAutofit/>
          </a:bodyPr>
          <a:p>
            <a:endParaRPr lang="en-GB" sz="1800" b="0" u="none" strike="noStrike">
              <a:solidFill>
                <a:srgbClr val="000000"/>
              </a:solidFill>
              <a:effectLst/>
              <a:uFillTx/>
              <a:latin typeface="Arial"/>
            </a:endParaRPr>
          </a:p>
        </p:txBody>
      </p:sp>
      <p:sp>
        <p:nvSpPr>
          <p:cNvPr id="107" name="Text 6"/>
          <p:cNvSpPr/>
          <p:nvPr/>
        </p:nvSpPr>
        <p:spPr>
          <a:xfrm>
            <a:off x="2240280" y="1783080"/>
            <a:ext cx="548280" cy="2372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900" b="1" u="none" strike="noStrike">
                <a:solidFill>
                  <a:srgbClr val="1F7D72"/>
                </a:solidFill>
                <a:effectLst/>
                <a:uFillTx/>
                <a:latin typeface="Plus Jakarta Sans"/>
                <a:ea typeface="Plus Jakarta Sans"/>
              </a:rPr>
              <a:t>3.3★</a:t>
            </a:r>
            <a:endParaRPr lang="en-GB" sz="900" b="0" u="none" strike="noStrike">
              <a:solidFill>
                <a:srgbClr val="000000"/>
              </a:solidFill>
              <a:effectLst/>
              <a:uFillTx/>
              <a:latin typeface="Arial"/>
            </a:endParaRPr>
          </a:p>
        </p:txBody>
      </p:sp>
      <p:sp>
        <p:nvSpPr>
          <p:cNvPr id="108" name="Text 7"/>
          <p:cNvSpPr/>
          <p:nvPr/>
        </p:nvSpPr>
        <p:spPr>
          <a:xfrm>
            <a:off x="594360" y="2057400"/>
            <a:ext cx="2212560" cy="4752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900" b="0" u="none" strike="noStrike">
                <a:solidFill>
                  <a:srgbClr val="6B8783"/>
                </a:solidFill>
                <a:effectLst/>
                <a:uFillTx/>
                <a:latin typeface="Plus Jakarta Sans"/>
                <a:ea typeface="Plus Jakarta Sans"/>
              </a:rPr>
              <a:t>3,000+ cities, $11 per player per hunt. Reviews cite crashes and no photo download.</a:t>
            </a:r>
            <a:endParaRPr lang="en-GB" sz="900" b="0" u="none" strike="noStrike">
              <a:solidFill>
                <a:srgbClr val="000000"/>
              </a:solidFill>
              <a:effectLst/>
              <a:uFillTx/>
              <a:latin typeface="Arial"/>
            </a:endParaRPr>
          </a:p>
        </p:txBody>
      </p:sp>
      <p:sp>
        <p:nvSpPr>
          <p:cNvPr id="109" name="Shape 8"/>
          <p:cNvSpPr/>
          <p:nvPr/>
        </p:nvSpPr>
        <p:spPr>
          <a:xfrm>
            <a:off x="457200" y="2679120"/>
            <a:ext cx="2468520" cy="895680"/>
          </a:xfrm>
          <a:prstGeom prst="roundRect">
            <a:avLst>
              <a:gd name="adj" fmla="val 12245"/>
            </a:avLst>
          </a:prstGeom>
          <a:solidFill>
            <a:srgbClr val="FFFFFF"/>
          </a:solidFill>
          <a:ln w="0">
            <a:noFill/>
          </a:ln>
          <a:effectLst>
            <a:outerShdw algn="bl" blurRad="152280" dir="5400000" dist="38160" kx="0" ky="0" rotWithShape="0" sx="100000" sy="100000">
              <a:srgbClr val="1F7D72">
                <a:alpha val="12000"/>
              </a:srgbClr>
            </a:outerShdw>
          </a:effectLst>
        </p:spPr>
        <p:style>
          <a:lnRef idx="0"/>
          <a:fillRef idx="0"/>
          <a:effectRef idx="0"/>
          <a:fontRef idx="minor"/>
        </p:style>
        <p:txBody>
          <a:bodyPr lIns="90000" tIns="45000" rIns="90000" bIns="45000" anchor="t">
            <a:noAutofit/>
          </a:bodyPr>
          <a:p>
            <a:endParaRPr lang="en-GB" sz="1800" b="0" u="none" strike="noStrike">
              <a:solidFill>
                <a:srgbClr val="000000"/>
              </a:solidFill>
              <a:effectLst/>
              <a:uFillTx/>
              <a:latin typeface="Arial"/>
            </a:endParaRPr>
          </a:p>
        </p:txBody>
      </p:sp>
      <p:sp>
        <p:nvSpPr>
          <p:cNvPr id="110" name="Text 9"/>
          <p:cNvSpPr/>
          <p:nvPr/>
        </p:nvSpPr>
        <p:spPr>
          <a:xfrm>
            <a:off x="594360" y="2770560"/>
            <a:ext cx="1599840" cy="237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50" b="1" u="none" strike="noStrike">
                <a:solidFill>
                  <a:srgbClr val="1B3431"/>
                </a:solidFill>
                <a:effectLst/>
                <a:uFillTx/>
                <a:latin typeface="Plus Jakarta Sans"/>
                <a:ea typeface="Plus Jakarta Sans"/>
              </a:rPr>
              <a:t>Crazy Dash, 3Quest</a:t>
            </a:r>
            <a:endParaRPr lang="en-GB" sz="1150" b="0" u="none" strike="noStrike">
              <a:solidFill>
                <a:srgbClr val="000000"/>
              </a:solidFill>
              <a:effectLst/>
              <a:uFillTx/>
              <a:latin typeface="Arial"/>
            </a:endParaRPr>
          </a:p>
        </p:txBody>
      </p:sp>
      <p:sp>
        <p:nvSpPr>
          <p:cNvPr id="111" name="Shape 10"/>
          <p:cNvSpPr/>
          <p:nvPr/>
        </p:nvSpPr>
        <p:spPr>
          <a:xfrm>
            <a:off x="2240280" y="2770560"/>
            <a:ext cx="548280" cy="237240"/>
          </a:xfrm>
          <a:prstGeom prst="roundRect">
            <a:avLst>
              <a:gd name="adj" fmla="val 50000"/>
            </a:avLst>
          </a:prstGeom>
          <a:solidFill>
            <a:srgbClr val="D4EFEA"/>
          </a:solidFill>
          <a:ln w="0">
            <a:noFill/>
          </a:ln>
        </p:spPr>
        <p:style>
          <a:lnRef idx="0"/>
          <a:fillRef idx="0"/>
          <a:effectRef idx="0"/>
          <a:fontRef idx="minor"/>
        </p:style>
        <p:txBody>
          <a:bodyPr lIns="90000" tIns="45000" rIns="90000" bIns="45000" anchor="t">
            <a:noAutofit/>
          </a:bodyPr>
          <a:p>
            <a:endParaRPr lang="en-GB" sz="1800" b="0" u="none" strike="noStrike">
              <a:solidFill>
                <a:srgbClr val="000000"/>
              </a:solidFill>
              <a:effectLst/>
              <a:uFillTx/>
              <a:latin typeface="Arial"/>
            </a:endParaRPr>
          </a:p>
        </p:txBody>
      </p:sp>
      <p:sp>
        <p:nvSpPr>
          <p:cNvPr id="112" name="Text 11"/>
          <p:cNvSpPr/>
          <p:nvPr/>
        </p:nvSpPr>
        <p:spPr>
          <a:xfrm>
            <a:off x="2240280" y="2770560"/>
            <a:ext cx="548280" cy="2372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900" b="1" u="none" strike="noStrike">
                <a:solidFill>
                  <a:srgbClr val="1F7D72"/>
                </a:solidFill>
                <a:effectLst/>
                <a:uFillTx/>
                <a:latin typeface="Plus Jakarta Sans"/>
                <a:ea typeface="Plus Jakarta Sans"/>
              </a:rPr>
              <a:t>US</a:t>
            </a:r>
            <a:endParaRPr lang="en-GB" sz="900" b="0" u="none" strike="noStrike">
              <a:solidFill>
                <a:srgbClr val="000000"/>
              </a:solidFill>
              <a:effectLst/>
              <a:uFillTx/>
              <a:latin typeface="Arial"/>
            </a:endParaRPr>
          </a:p>
        </p:txBody>
      </p:sp>
      <p:sp>
        <p:nvSpPr>
          <p:cNvPr id="113" name="Text 12"/>
          <p:cNvSpPr/>
          <p:nvPr/>
        </p:nvSpPr>
        <p:spPr>
          <a:xfrm>
            <a:off x="594360" y="3044880"/>
            <a:ext cx="2212560" cy="4752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900" b="0" u="none" strike="noStrike">
                <a:solidFill>
                  <a:srgbClr val="6B8783"/>
                </a:solidFill>
                <a:effectLst/>
                <a:uFillTx/>
                <a:latin typeface="Plus Jakarta Sans"/>
                <a:ea typeface="Plus Jakarta Sans"/>
              </a:rPr>
              <a:t>A generic hunt with a date add-on; US and Canada only, ~$22 per person.</a:t>
            </a:r>
            <a:endParaRPr lang="en-GB" sz="900" b="0" u="none" strike="noStrike">
              <a:solidFill>
                <a:srgbClr val="000000"/>
              </a:solidFill>
              <a:effectLst/>
              <a:uFillTx/>
              <a:latin typeface="Arial"/>
            </a:endParaRPr>
          </a:p>
        </p:txBody>
      </p:sp>
      <p:sp>
        <p:nvSpPr>
          <p:cNvPr id="114" name="Shape 13"/>
          <p:cNvSpPr/>
          <p:nvPr/>
        </p:nvSpPr>
        <p:spPr>
          <a:xfrm>
            <a:off x="457200" y="3666600"/>
            <a:ext cx="2468520" cy="895680"/>
          </a:xfrm>
          <a:prstGeom prst="roundRect">
            <a:avLst>
              <a:gd name="adj" fmla="val 12245"/>
            </a:avLst>
          </a:prstGeom>
          <a:solidFill>
            <a:srgbClr val="FFFFFF"/>
          </a:solidFill>
          <a:ln w="0">
            <a:noFill/>
          </a:ln>
          <a:effectLst>
            <a:outerShdw algn="bl" blurRad="152280" dir="5400000" dist="38160" kx="0" ky="0" rotWithShape="0" sx="100000" sy="100000">
              <a:srgbClr val="1F7D72">
                <a:alpha val="12000"/>
              </a:srgbClr>
            </a:outerShdw>
          </a:effectLst>
        </p:spPr>
        <p:style>
          <a:lnRef idx="0"/>
          <a:fillRef idx="0"/>
          <a:effectRef idx="0"/>
          <a:fontRef idx="minor"/>
        </p:style>
        <p:txBody>
          <a:bodyPr lIns="90000" tIns="45000" rIns="90000" bIns="45000" anchor="t">
            <a:noAutofit/>
          </a:bodyPr>
          <a:p>
            <a:endParaRPr lang="en-GB" sz="1800" b="0" u="none" strike="noStrike">
              <a:solidFill>
                <a:srgbClr val="000000"/>
              </a:solidFill>
              <a:effectLst/>
              <a:uFillTx/>
              <a:latin typeface="Arial"/>
            </a:endParaRPr>
          </a:p>
        </p:txBody>
      </p:sp>
      <p:sp>
        <p:nvSpPr>
          <p:cNvPr id="115" name="Text 14"/>
          <p:cNvSpPr/>
          <p:nvPr/>
        </p:nvSpPr>
        <p:spPr>
          <a:xfrm>
            <a:off x="594360" y="3758040"/>
            <a:ext cx="1599840" cy="237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50" b="1" u="none" strike="noStrike">
                <a:solidFill>
                  <a:srgbClr val="1B3431"/>
                </a:solidFill>
                <a:effectLst/>
                <a:uFillTx/>
                <a:latin typeface="Plus Jakarta Sans"/>
                <a:ea typeface="Plus Jakarta Sans"/>
              </a:rPr>
              <a:t>Paired, Adeux</a:t>
            </a:r>
            <a:endParaRPr lang="en-GB" sz="1150" b="0" u="none" strike="noStrike">
              <a:solidFill>
                <a:srgbClr val="000000"/>
              </a:solidFill>
              <a:effectLst/>
              <a:uFillTx/>
              <a:latin typeface="Arial"/>
            </a:endParaRPr>
          </a:p>
        </p:txBody>
      </p:sp>
      <p:sp>
        <p:nvSpPr>
          <p:cNvPr id="116" name="Shape 15"/>
          <p:cNvSpPr/>
          <p:nvPr/>
        </p:nvSpPr>
        <p:spPr>
          <a:xfrm>
            <a:off x="2240280" y="3758040"/>
            <a:ext cx="548280" cy="237240"/>
          </a:xfrm>
          <a:prstGeom prst="roundRect">
            <a:avLst>
              <a:gd name="adj" fmla="val 50000"/>
            </a:avLst>
          </a:prstGeom>
          <a:solidFill>
            <a:srgbClr val="D4EFEA"/>
          </a:solidFill>
          <a:ln w="0">
            <a:noFill/>
          </a:ln>
        </p:spPr>
        <p:style>
          <a:lnRef idx="0"/>
          <a:fillRef idx="0"/>
          <a:effectRef idx="0"/>
          <a:fontRef idx="minor"/>
        </p:style>
        <p:txBody>
          <a:bodyPr lIns="90000" tIns="45000" rIns="90000" bIns="45000" anchor="t">
            <a:noAutofit/>
          </a:bodyPr>
          <a:p>
            <a:endParaRPr lang="en-GB" sz="1800" b="0" u="none" strike="noStrike">
              <a:solidFill>
                <a:srgbClr val="000000"/>
              </a:solidFill>
              <a:effectLst/>
              <a:uFillTx/>
              <a:latin typeface="Arial"/>
            </a:endParaRPr>
          </a:p>
        </p:txBody>
      </p:sp>
      <p:sp>
        <p:nvSpPr>
          <p:cNvPr id="117" name="Text 16"/>
          <p:cNvSpPr/>
          <p:nvPr/>
        </p:nvSpPr>
        <p:spPr>
          <a:xfrm>
            <a:off x="2240280" y="3758040"/>
            <a:ext cx="548280" cy="2372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900" b="1" u="none" strike="noStrike">
                <a:solidFill>
                  <a:srgbClr val="1F7D72"/>
                </a:solidFill>
                <a:effectLst/>
                <a:uFillTx/>
                <a:latin typeface="Plus Jakarta Sans"/>
                <a:ea typeface="Plus Jakarta Sans"/>
              </a:rPr>
              <a:t>Home</a:t>
            </a:r>
            <a:endParaRPr lang="en-GB" sz="900" b="0" u="none" strike="noStrike">
              <a:solidFill>
                <a:srgbClr val="000000"/>
              </a:solidFill>
              <a:effectLst/>
              <a:uFillTx/>
              <a:latin typeface="Arial"/>
            </a:endParaRPr>
          </a:p>
        </p:txBody>
      </p:sp>
      <p:sp>
        <p:nvSpPr>
          <p:cNvPr id="118" name="Text 17"/>
          <p:cNvSpPr/>
          <p:nvPr/>
        </p:nvSpPr>
        <p:spPr>
          <a:xfrm>
            <a:off x="594360" y="4032360"/>
            <a:ext cx="2212560" cy="4752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900" b="0" u="none" strike="noStrike">
                <a:solidFill>
                  <a:srgbClr val="6B8783"/>
                </a:solidFill>
                <a:effectLst/>
                <a:uFillTx/>
                <a:latin typeface="Plus Jakarta Sans"/>
                <a:ea typeface="Plus Jakarta Sans"/>
              </a:rPr>
              <a:t>Couples apps with daily questions and quizzes; they stay on the sofa.</a:t>
            </a:r>
            <a:endParaRPr lang="en-GB" sz="900" b="0" u="none" strike="noStrike">
              <a:solidFill>
                <a:srgbClr val="000000"/>
              </a:solidFill>
              <a:effectLst/>
              <a:uFillTx/>
              <a:latin typeface="Arial"/>
            </a:endParaRPr>
          </a:p>
        </p:txBody>
      </p:sp>
      <p:sp>
        <p:nvSpPr>
          <p:cNvPr id="119" name="Text 18"/>
          <p:cNvSpPr/>
          <p:nvPr/>
        </p:nvSpPr>
        <p:spPr>
          <a:xfrm>
            <a:off x="3154680" y="1325880"/>
            <a:ext cx="2559960" cy="228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1" u="none" spc="201" strike="noStrike">
                <a:solidFill>
                  <a:srgbClr val="2A9D8F"/>
                </a:solidFill>
                <a:effectLst/>
                <a:uFillTx/>
                <a:latin typeface="Plus Jakarta Sans"/>
                <a:ea typeface="Plus Jakarta Sans"/>
              </a:rPr>
              <a:t>LESSONS LEARNED</a:t>
            </a:r>
            <a:endParaRPr lang="en-GB" sz="1100" b="0" u="none" strike="noStrike">
              <a:solidFill>
                <a:srgbClr val="000000"/>
              </a:solidFill>
              <a:effectLst/>
              <a:uFillTx/>
              <a:latin typeface="Arial"/>
            </a:endParaRPr>
          </a:p>
        </p:txBody>
      </p:sp>
      <p:sp>
        <p:nvSpPr>
          <p:cNvPr id="120" name="Shape 19"/>
          <p:cNvSpPr/>
          <p:nvPr/>
        </p:nvSpPr>
        <p:spPr>
          <a:xfrm>
            <a:off x="3154680" y="1710000"/>
            <a:ext cx="273960" cy="273960"/>
          </a:xfrm>
          <a:prstGeom prst="ellipse">
            <a:avLst/>
          </a:prstGeom>
          <a:solidFill>
            <a:srgbClr val="D4EFEA"/>
          </a:solidFill>
          <a:ln w="0">
            <a:noFill/>
          </a:ln>
        </p:spPr>
        <p:style>
          <a:lnRef idx="0"/>
          <a:fillRef idx="0"/>
          <a:effectRef idx="0"/>
          <a:fontRef idx="minor"/>
        </p:style>
        <p:txBody>
          <a:bodyPr lIns="90000" tIns="45000" rIns="90000" bIns="45000" anchor="t">
            <a:noAutofit/>
          </a:bodyPr>
          <a:p>
            <a:endParaRPr lang="en-GB" sz="1800" b="0" u="none" strike="noStrike">
              <a:solidFill>
                <a:srgbClr val="000000"/>
              </a:solidFill>
              <a:effectLst/>
              <a:uFillTx/>
              <a:latin typeface="Arial"/>
            </a:endParaRPr>
          </a:p>
        </p:txBody>
      </p:sp>
      <p:pic>
        <p:nvPicPr>
          <p:cNvPr id="121" name="Image 0" descr="preencoded.png"/>
          <p:cNvPicPr/>
          <p:nvPr/>
        </p:nvPicPr>
        <p:blipFill>
          <a:blip r:embed="rId1"/>
          <a:stretch/>
        </p:blipFill>
        <p:spPr>
          <a:xfrm>
            <a:off x="3218760" y="1774080"/>
            <a:ext cx="145800" cy="145800"/>
          </a:xfrm>
          <a:prstGeom prst="rect">
            <a:avLst/>
          </a:prstGeom>
          <a:noFill/>
          <a:ln w="0">
            <a:noFill/>
          </a:ln>
        </p:spPr>
      </p:pic>
      <p:sp>
        <p:nvSpPr>
          <p:cNvPr id="122" name="Text 20"/>
          <p:cNvSpPr/>
          <p:nvPr/>
        </p:nvSpPr>
        <p:spPr>
          <a:xfrm>
            <a:off x="3566160" y="1691640"/>
            <a:ext cx="2285640" cy="4752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150" b="0" u="none" strike="noStrike">
                <a:solidFill>
                  <a:srgbClr val="1B3431"/>
                </a:solidFill>
                <a:effectLst/>
                <a:uFillTx/>
                <a:latin typeface="Plus Jakarta Sans"/>
                <a:ea typeface="Plus Jakarta Sans"/>
              </a:rPr>
              <a:t>Scavenger-hunt and travel apps crowd the market</a:t>
            </a:r>
            <a:endParaRPr lang="en-GB" sz="1150" b="0" u="none" strike="noStrike">
              <a:solidFill>
                <a:srgbClr val="000000"/>
              </a:solidFill>
              <a:effectLst/>
              <a:uFillTx/>
              <a:latin typeface="Arial"/>
            </a:endParaRPr>
          </a:p>
        </p:txBody>
      </p:sp>
      <p:sp>
        <p:nvSpPr>
          <p:cNvPr id="123" name="Shape 21"/>
          <p:cNvSpPr/>
          <p:nvPr/>
        </p:nvSpPr>
        <p:spPr>
          <a:xfrm>
            <a:off x="3154680" y="2368440"/>
            <a:ext cx="273960" cy="273960"/>
          </a:xfrm>
          <a:prstGeom prst="ellipse">
            <a:avLst/>
          </a:prstGeom>
          <a:solidFill>
            <a:srgbClr val="D4EFEA"/>
          </a:solidFill>
          <a:ln w="0">
            <a:noFill/>
          </a:ln>
        </p:spPr>
        <p:style>
          <a:lnRef idx="0"/>
          <a:fillRef idx="0"/>
          <a:effectRef idx="0"/>
          <a:fontRef idx="minor"/>
        </p:style>
        <p:txBody>
          <a:bodyPr lIns="90000" tIns="45000" rIns="90000" bIns="45000" anchor="t">
            <a:noAutofit/>
          </a:bodyPr>
          <a:p>
            <a:endParaRPr lang="en-GB" sz="1800" b="0" u="none" strike="noStrike">
              <a:solidFill>
                <a:srgbClr val="000000"/>
              </a:solidFill>
              <a:effectLst/>
              <a:uFillTx/>
              <a:latin typeface="Arial"/>
            </a:endParaRPr>
          </a:p>
        </p:txBody>
      </p:sp>
      <p:pic>
        <p:nvPicPr>
          <p:cNvPr id="124" name="Image 1" descr="preencoded.png"/>
          <p:cNvPicPr/>
          <p:nvPr/>
        </p:nvPicPr>
        <p:blipFill>
          <a:blip r:embed="rId2"/>
          <a:stretch/>
        </p:blipFill>
        <p:spPr>
          <a:xfrm>
            <a:off x="3218760" y="2432160"/>
            <a:ext cx="145800" cy="145800"/>
          </a:xfrm>
          <a:prstGeom prst="rect">
            <a:avLst/>
          </a:prstGeom>
          <a:noFill/>
          <a:ln w="0">
            <a:noFill/>
          </a:ln>
        </p:spPr>
      </p:pic>
      <p:sp>
        <p:nvSpPr>
          <p:cNvPr id="125" name="Text 22"/>
          <p:cNvSpPr/>
          <p:nvPr/>
        </p:nvSpPr>
        <p:spPr>
          <a:xfrm>
            <a:off x="3566160" y="2350080"/>
            <a:ext cx="2285640" cy="4752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150" b="0" u="none" strike="noStrike">
                <a:solidFill>
                  <a:srgbClr val="1B3431"/>
                </a:solidFill>
                <a:effectLst/>
                <a:uFillTx/>
                <a:latin typeface="Plus Jakarta Sans"/>
                <a:ea typeface="Plus Jakarta Sans"/>
              </a:rPr>
              <a:t>Couples apps abound, but they keep couples indoors</a:t>
            </a:r>
            <a:endParaRPr lang="en-GB" sz="1150" b="0" u="none" strike="noStrike">
              <a:solidFill>
                <a:srgbClr val="000000"/>
              </a:solidFill>
              <a:effectLst/>
              <a:uFillTx/>
              <a:latin typeface="Arial"/>
            </a:endParaRPr>
          </a:p>
        </p:txBody>
      </p:sp>
      <p:sp>
        <p:nvSpPr>
          <p:cNvPr id="126" name="Shape 23"/>
          <p:cNvSpPr/>
          <p:nvPr/>
        </p:nvSpPr>
        <p:spPr>
          <a:xfrm>
            <a:off x="3154680" y="2935080"/>
            <a:ext cx="2697120" cy="822600"/>
          </a:xfrm>
          <a:prstGeom prst="roundRect">
            <a:avLst>
              <a:gd name="adj" fmla="val 13333"/>
            </a:avLst>
          </a:prstGeom>
          <a:solidFill>
            <a:srgbClr val="2A9D8F"/>
          </a:solidFill>
          <a:ln w="0">
            <a:noFill/>
          </a:ln>
          <a:effectLst>
            <a:outerShdw algn="bl" blurRad="152280" dir="5400000" dist="38160" kx="0" ky="0" rotWithShape="0" sx="100000" sy="100000">
              <a:srgbClr val="1F7D72">
                <a:alpha val="12000"/>
              </a:srgbClr>
            </a:outerShdw>
          </a:effectLst>
        </p:spPr>
        <p:style>
          <a:lnRef idx="0"/>
          <a:fillRef idx="0"/>
          <a:effectRef idx="0"/>
          <a:fontRef idx="minor"/>
        </p:style>
        <p:txBody>
          <a:bodyPr lIns="90000" tIns="45000" rIns="90000" bIns="45000" anchor="t">
            <a:noAutofit/>
          </a:bodyPr>
          <a:p>
            <a:endParaRPr lang="en-GB" sz="1800" b="0" u="none" strike="noStrike">
              <a:solidFill>
                <a:srgbClr val="FFFFFF"/>
              </a:solidFill>
              <a:effectLst/>
              <a:uFillTx/>
              <a:latin typeface="Arial"/>
            </a:endParaRPr>
          </a:p>
        </p:txBody>
      </p:sp>
      <p:sp>
        <p:nvSpPr>
          <p:cNvPr id="127" name="Text 24"/>
          <p:cNvSpPr/>
          <p:nvPr/>
        </p:nvSpPr>
        <p:spPr>
          <a:xfrm>
            <a:off x="3291840" y="3026520"/>
            <a:ext cx="2422800" cy="200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1" u="none" spc="201" strike="noStrike">
                <a:solidFill>
                  <a:srgbClr val="D4EFEA"/>
                </a:solidFill>
                <a:effectLst/>
                <a:uFillTx/>
                <a:latin typeface="Plus Jakarta Sans"/>
                <a:ea typeface="Plus Jakarta Sans"/>
              </a:rPr>
              <a:t>THE GAP</a:t>
            </a:r>
            <a:endParaRPr lang="en-GB" sz="900" b="0" u="none" strike="noStrike">
              <a:solidFill>
                <a:srgbClr val="000000"/>
              </a:solidFill>
              <a:effectLst/>
              <a:uFillTx/>
              <a:latin typeface="Arial"/>
            </a:endParaRPr>
          </a:p>
        </p:txBody>
      </p:sp>
      <p:sp>
        <p:nvSpPr>
          <p:cNvPr id="128" name="Text 25"/>
          <p:cNvSpPr/>
          <p:nvPr/>
        </p:nvSpPr>
        <p:spPr>
          <a:xfrm>
            <a:off x="3291840" y="3246120"/>
            <a:ext cx="2422800" cy="4568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200" b="1" u="none" strike="noStrike">
                <a:solidFill>
                  <a:srgbClr val="FFFFFF"/>
                </a:solidFill>
                <a:effectLst/>
                <a:uFillTx/>
                <a:latin typeface="Plus Jakarta Sans"/>
                <a:ea typeface="Plus Jakarta Sans"/>
              </a:rPr>
              <a:t>Nobody offers outdoor activities made for couples</a:t>
            </a:r>
            <a:endParaRPr lang="en-GB" sz="1200" b="0" u="none" strike="noStrike">
              <a:solidFill>
                <a:srgbClr val="000000"/>
              </a:solidFill>
              <a:effectLst/>
              <a:uFillTx/>
              <a:latin typeface="Arial"/>
            </a:endParaRPr>
          </a:p>
        </p:txBody>
      </p:sp>
      <p:sp>
        <p:nvSpPr>
          <p:cNvPr id="129" name="Text 26"/>
          <p:cNvSpPr/>
          <p:nvPr/>
        </p:nvSpPr>
        <p:spPr>
          <a:xfrm>
            <a:off x="6080760" y="1325880"/>
            <a:ext cx="2559960" cy="228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1" u="none" spc="201" strike="noStrike">
                <a:solidFill>
                  <a:srgbClr val="2A9D8F"/>
                </a:solidFill>
                <a:effectLst/>
                <a:uFillTx/>
                <a:latin typeface="Plus Jakarta Sans"/>
                <a:ea typeface="Plus Jakarta Sans"/>
              </a:rPr>
              <a:t>PIVOTS</a:t>
            </a:r>
            <a:endParaRPr lang="en-GB" sz="1100" b="0" u="none" strike="noStrike">
              <a:solidFill>
                <a:srgbClr val="000000"/>
              </a:solidFill>
              <a:effectLst/>
              <a:uFillTx/>
              <a:latin typeface="Arial"/>
            </a:endParaRPr>
          </a:p>
        </p:txBody>
      </p:sp>
      <p:sp>
        <p:nvSpPr>
          <p:cNvPr id="130" name="Shape 27"/>
          <p:cNvSpPr/>
          <p:nvPr/>
        </p:nvSpPr>
        <p:spPr>
          <a:xfrm>
            <a:off x="6080760" y="1691640"/>
            <a:ext cx="2605680" cy="1096920"/>
          </a:xfrm>
          <a:prstGeom prst="roundRect">
            <a:avLst>
              <a:gd name="adj" fmla="val 10000"/>
            </a:avLst>
          </a:prstGeom>
          <a:solidFill>
            <a:srgbClr val="FFFFFF"/>
          </a:solidFill>
          <a:ln w="0">
            <a:noFill/>
          </a:ln>
          <a:effectLst>
            <a:outerShdw algn="bl" blurRad="152280" dir="5400000" dist="38160" kx="0" ky="0" rotWithShape="0" sx="100000" sy="100000">
              <a:srgbClr val="1F7D72">
                <a:alpha val="12000"/>
              </a:srgbClr>
            </a:outerShdw>
          </a:effectLst>
        </p:spPr>
        <p:style>
          <a:lnRef idx="0"/>
          <a:fillRef idx="0"/>
          <a:effectRef idx="0"/>
          <a:fontRef idx="minor"/>
        </p:style>
        <p:txBody>
          <a:bodyPr lIns="90000" tIns="45000" rIns="90000" bIns="45000" anchor="t">
            <a:noAutofit/>
          </a:bodyPr>
          <a:p>
            <a:endParaRPr lang="en-GB" sz="1800" b="0" u="none" strike="noStrike">
              <a:solidFill>
                <a:srgbClr val="000000"/>
              </a:solidFill>
              <a:effectLst/>
              <a:uFillTx/>
              <a:latin typeface="Arial"/>
            </a:endParaRPr>
          </a:p>
        </p:txBody>
      </p:sp>
      <p:sp>
        <p:nvSpPr>
          <p:cNvPr id="131" name="Text 28"/>
          <p:cNvSpPr/>
          <p:nvPr/>
        </p:nvSpPr>
        <p:spPr>
          <a:xfrm>
            <a:off x="6236280" y="1810440"/>
            <a:ext cx="233136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50" b="0" u="none" strike="sngStrike">
                <a:solidFill>
                  <a:srgbClr val="6B8783"/>
                </a:solidFill>
                <a:effectLst/>
                <a:uFillTx/>
                <a:latin typeface="Plus Jakarta Sans"/>
                <a:ea typeface="Plus Jakarta Sans"/>
              </a:rPr>
              <a:t>Road Games, a scavenger hunt app</a:t>
            </a:r>
            <a:endParaRPr lang="en-GB" sz="1050" b="0" u="none" strike="noStrike">
              <a:solidFill>
                <a:srgbClr val="000000"/>
              </a:solidFill>
              <a:effectLst/>
              <a:uFillTx/>
              <a:latin typeface="Arial"/>
            </a:endParaRPr>
          </a:p>
        </p:txBody>
      </p:sp>
      <p:pic>
        <p:nvPicPr>
          <p:cNvPr id="132" name="Image 2" descr="preencoded.png"/>
          <p:cNvPicPr/>
          <p:nvPr/>
        </p:nvPicPr>
        <p:blipFill>
          <a:blip r:embed="rId3"/>
          <a:stretch/>
        </p:blipFill>
        <p:spPr>
          <a:xfrm>
            <a:off x="6236280" y="2212920"/>
            <a:ext cx="182520" cy="182520"/>
          </a:xfrm>
          <a:prstGeom prst="rect">
            <a:avLst/>
          </a:prstGeom>
          <a:noFill/>
          <a:ln w="0">
            <a:noFill/>
          </a:ln>
        </p:spPr>
      </p:pic>
      <p:sp>
        <p:nvSpPr>
          <p:cNvPr id="133" name="Text 29"/>
          <p:cNvSpPr/>
          <p:nvPr/>
        </p:nvSpPr>
        <p:spPr>
          <a:xfrm>
            <a:off x="6492240" y="2148840"/>
            <a:ext cx="2057040" cy="5482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250" b="1" u="none" strike="noStrike">
                <a:solidFill>
                  <a:srgbClr val="1B3431"/>
                </a:solidFill>
                <a:effectLst/>
                <a:uFillTx/>
                <a:latin typeface="Plus Jakarta Sans"/>
                <a:ea typeface="Plus Jakarta Sans"/>
              </a:rPr>
              <a:t>Wannadoo: outdoor dates made for couples</a:t>
            </a:r>
            <a:endParaRPr lang="en-GB" sz="1250" b="0" u="none" strike="noStrike">
              <a:solidFill>
                <a:srgbClr val="000000"/>
              </a:solidFill>
              <a:effectLst/>
              <a:uFillTx/>
              <a:latin typeface="Arial"/>
            </a:endParaRPr>
          </a:p>
        </p:txBody>
      </p:sp>
      <p:sp>
        <p:nvSpPr>
          <p:cNvPr id="134" name="Shape 30"/>
          <p:cNvSpPr/>
          <p:nvPr/>
        </p:nvSpPr>
        <p:spPr>
          <a:xfrm>
            <a:off x="6080760" y="2926080"/>
            <a:ext cx="2605680" cy="1096920"/>
          </a:xfrm>
          <a:prstGeom prst="roundRect">
            <a:avLst>
              <a:gd name="adj" fmla="val 10000"/>
            </a:avLst>
          </a:prstGeom>
          <a:solidFill>
            <a:srgbClr val="FFFFFF"/>
          </a:solidFill>
          <a:ln w="0">
            <a:noFill/>
          </a:ln>
          <a:effectLst>
            <a:outerShdw algn="bl" blurRad="152280" dir="5400000" dist="38160" kx="0" ky="0" rotWithShape="0" sx="100000" sy="100000">
              <a:srgbClr val="1F7D72">
                <a:alpha val="12000"/>
              </a:srgbClr>
            </a:outerShdw>
          </a:effectLst>
        </p:spPr>
        <p:style>
          <a:lnRef idx="0"/>
          <a:fillRef idx="0"/>
          <a:effectRef idx="0"/>
          <a:fontRef idx="minor"/>
        </p:style>
        <p:txBody>
          <a:bodyPr lIns="90000" tIns="45000" rIns="90000" bIns="45000" anchor="t">
            <a:noAutofit/>
          </a:bodyPr>
          <a:p>
            <a:endParaRPr lang="en-GB" sz="1800" b="0" u="none" strike="noStrike">
              <a:solidFill>
                <a:srgbClr val="000000"/>
              </a:solidFill>
              <a:effectLst/>
              <a:uFillTx/>
              <a:latin typeface="Arial"/>
            </a:endParaRPr>
          </a:p>
        </p:txBody>
      </p:sp>
      <p:sp>
        <p:nvSpPr>
          <p:cNvPr id="135" name="Text 31"/>
          <p:cNvSpPr/>
          <p:nvPr/>
        </p:nvSpPr>
        <p:spPr>
          <a:xfrm>
            <a:off x="6236280" y="3044880"/>
            <a:ext cx="233136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50" b="0" u="none" strike="sngStrike">
                <a:solidFill>
                  <a:srgbClr val="6B8783"/>
                </a:solidFill>
                <a:effectLst/>
                <a:uFillTx/>
                <a:latin typeface="Plus Jakarta Sans"/>
                <a:ea typeface="Plus Jakarta Sans"/>
              </a:rPr>
              <a:t>Fun for an afternoon</a:t>
            </a:r>
            <a:endParaRPr lang="en-GB" sz="1050" b="0" u="none" strike="noStrike">
              <a:solidFill>
                <a:srgbClr val="000000"/>
              </a:solidFill>
              <a:effectLst/>
              <a:uFillTx/>
              <a:latin typeface="Arial"/>
            </a:endParaRPr>
          </a:p>
        </p:txBody>
      </p:sp>
      <p:pic>
        <p:nvPicPr>
          <p:cNvPr id="136" name="Image 3" descr="preencoded.png"/>
          <p:cNvPicPr/>
          <p:nvPr/>
        </p:nvPicPr>
        <p:blipFill>
          <a:blip r:embed="rId4"/>
          <a:stretch/>
        </p:blipFill>
        <p:spPr>
          <a:xfrm>
            <a:off x="6236280" y="3447360"/>
            <a:ext cx="182520" cy="182520"/>
          </a:xfrm>
          <a:prstGeom prst="rect">
            <a:avLst/>
          </a:prstGeom>
          <a:noFill/>
          <a:ln w="0">
            <a:noFill/>
          </a:ln>
        </p:spPr>
      </p:pic>
      <p:sp>
        <p:nvSpPr>
          <p:cNvPr id="137" name="Text 32"/>
          <p:cNvSpPr/>
          <p:nvPr/>
        </p:nvSpPr>
        <p:spPr>
          <a:xfrm>
            <a:off x="6492240" y="3383280"/>
            <a:ext cx="2057040" cy="5482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250" b="1" u="none" strike="noStrike">
                <a:solidFill>
                  <a:srgbClr val="1B3431"/>
                </a:solidFill>
                <a:effectLst/>
                <a:uFillTx/>
                <a:latin typeface="Plus Jakarta Sans"/>
                <a:ea typeface="Plus Jakarta Sans"/>
              </a:rPr>
              <a:t>Insight that builds lasting connection</a:t>
            </a:r>
            <a:endParaRPr lang="en-GB" sz="12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138" name="Text 0"/>
          <p:cNvSpPr/>
          <p:nvPr/>
        </p:nvSpPr>
        <p:spPr>
          <a:xfrm>
            <a:off x="457200" y="365760"/>
            <a:ext cx="4571640" cy="228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1" u="none" spc="201" strike="noStrike">
                <a:solidFill>
                  <a:srgbClr val="D4EFEA"/>
                </a:solidFill>
                <a:effectLst/>
                <a:uFillTx/>
                <a:latin typeface="Plus Jakarta Sans"/>
                <a:ea typeface="Plus Jakarta Sans"/>
              </a:rPr>
              <a:t>THE VERDICT</a:t>
            </a:r>
            <a:endParaRPr lang="en-GB" sz="1100" b="0" u="none" strike="noStrike">
              <a:solidFill>
                <a:srgbClr val="FFFFFF"/>
              </a:solidFill>
              <a:effectLst/>
              <a:uFillTx/>
              <a:latin typeface="Arial"/>
            </a:endParaRPr>
          </a:p>
        </p:txBody>
      </p:sp>
      <p:sp>
        <p:nvSpPr>
          <p:cNvPr id="139" name="Text 1"/>
          <p:cNvSpPr/>
          <p:nvPr/>
        </p:nvSpPr>
        <p:spPr>
          <a:xfrm>
            <a:off x="457200" y="594360"/>
            <a:ext cx="822924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600" b="1" u="none" strike="noStrike">
                <a:solidFill>
                  <a:srgbClr val="FFFFFF"/>
                </a:solidFill>
                <a:effectLst/>
                <a:uFillTx/>
                <a:latin typeface="Plus Jakarta Sans"/>
                <a:ea typeface="Plus Jakarta Sans"/>
              </a:rPr>
              <a:t>Is Wannadoo worth pursuing?</a:t>
            </a:r>
            <a:endParaRPr lang="en-GB" sz="2600" b="0" u="none" strike="noStrike">
              <a:solidFill>
                <a:srgbClr val="FFFFFF"/>
              </a:solidFill>
              <a:effectLst/>
              <a:uFillTx/>
              <a:latin typeface="Arial"/>
            </a:endParaRPr>
          </a:p>
        </p:txBody>
      </p:sp>
      <p:sp>
        <p:nvSpPr>
          <p:cNvPr id="140" name="Shape 2"/>
          <p:cNvSpPr/>
          <p:nvPr/>
        </p:nvSpPr>
        <p:spPr>
          <a:xfrm>
            <a:off x="457200" y="1371600"/>
            <a:ext cx="8229240" cy="959760"/>
          </a:xfrm>
          <a:prstGeom prst="roundRect">
            <a:avLst>
              <a:gd name="adj" fmla="val 14286"/>
            </a:avLst>
          </a:prstGeom>
          <a:solidFill>
            <a:srgbClr val="FFFFFF"/>
          </a:solidFill>
          <a:ln w="0">
            <a:noFill/>
          </a:ln>
          <a:effectLst>
            <a:outerShdw algn="bl" blurRad="152280" dir="5400000" dist="38160" kx="0" ky="0" rotWithShape="0" sx="100000" sy="100000">
              <a:srgbClr val="1F7D72">
                <a:alpha val="12000"/>
              </a:srgbClr>
            </a:outerShdw>
          </a:effectLst>
        </p:spPr>
        <p:style>
          <a:lnRef idx="0"/>
          <a:fillRef idx="0"/>
          <a:effectRef idx="0"/>
          <a:fontRef idx="minor"/>
        </p:style>
        <p:txBody>
          <a:bodyPr lIns="90000" tIns="45000" rIns="90000" bIns="45000" anchor="t">
            <a:noAutofit/>
          </a:bodyPr>
          <a:p>
            <a:endParaRPr lang="en-GB" sz="1800" b="0" u="none" strike="noStrike">
              <a:solidFill>
                <a:srgbClr val="000000"/>
              </a:solidFill>
              <a:effectLst/>
              <a:uFillTx/>
              <a:latin typeface="Arial"/>
            </a:endParaRPr>
          </a:p>
        </p:txBody>
      </p:sp>
      <p:sp>
        <p:nvSpPr>
          <p:cNvPr id="141" name="Text 3"/>
          <p:cNvSpPr/>
          <p:nvPr/>
        </p:nvSpPr>
        <p:spPr>
          <a:xfrm>
            <a:off x="731520" y="1536120"/>
            <a:ext cx="2742840" cy="200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1" u="none" spc="201" strike="noStrike">
                <a:solidFill>
                  <a:srgbClr val="2A9D8F"/>
                </a:solidFill>
                <a:effectLst/>
                <a:uFillTx/>
                <a:latin typeface="Plus Jakarta Sans"/>
                <a:ea typeface="Plus Jakarta Sans"/>
              </a:rPr>
              <a:t>OUR ANSWER</a:t>
            </a:r>
            <a:endParaRPr lang="en-GB" sz="1000" b="0" u="none" strike="noStrike">
              <a:solidFill>
                <a:srgbClr val="FFFFFF"/>
              </a:solidFill>
              <a:effectLst/>
              <a:uFillTx/>
              <a:latin typeface="Arial"/>
            </a:endParaRPr>
          </a:p>
        </p:txBody>
      </p:sp>
      <p:sp>
        <p:nvSpPr>
          <p:cNvPr id="142" name="Text 4"/>
          <p:cNvSpPr/>
          <p:nvPr/>
        </p:nvSpPr>
        <p:spPr>
          <a:xfrm>
            <a:off x="731520" y="1764720"/>
            <a:ext cx="7680600" cy="411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200" b="1" u="none" strike="noStrike">
                <a:solidFill>
                  <a:srgbClr val="FF6B81"/>
                </a:solidFill>
                <a:effectLst/>
                <a:uFillTx/>
                <a:latin typeface="Plus Jakarta Sans"/>
                <a:ea typeface="Plus Jakarta Sans"/>
              </a:rPr>
              <a:t>[Yes / No / Yes, if …]</a:t>
            </a:r>
            <a:endParaRPr lang="en-GB" sz="2200" b="0" u="none" strike="noStrike">
              <a:solidFill>
                <a:srgbClr val="FFFFFF"/>
              </a:solidFill>
              <a:effectLst/>
              <a:uFillTx/>
              <a:latin typeface="Arial"/>
            </a:endParaRPr>
          </a:p>
        </p:txBody>
      </p:sp>
      <p:sp>
        <p:nvSpPr>
          <p:cNvPr id="143" name="Shape 5"/>
          <p:cNvSpPr/>
          <p:nvPr/>
        </p:nvSpPr>
        <p:spPr>
          <a:xfrm>
            <a:off x="457200" y="2606040"/>
            <a:ext cx="456840" cy="456840"/>
          </a:xfrm>
          <a:prstGeom prst="ellipse">
            <a:avLst/>
          </a:prstGeom>
          <a:solidFill>
            <a:srgbClr val="FFFFFF"/>
          </a:solidFill>
          <a:ln w="0">
            <a:noFill/>
          </a:ln>
        </p:spPr>
        <p:style>
          <a:lnRef idx="0"/>
          <a:fillRef idx="0"/>
          <a:effectRef idx="0"/>
          <a:fontRef idx="minor"/>
        </p:style>
        <p:txBody>
          <a:bodyPr lIns="90000" tIns="45000" rIns="90000" bIns="45000" anchor="t">
            <a:noAutofit/>
          </a:bodyPr>
          <a:p>
            <a:endParaRPr lang="en-GB" sz="1800" b="0" u="none" strike="noStrike">
              <a:solidFill>
                <a:srgbClr val="000000"/>
              </a:solidFill>
              <a:effectLst/>
              <a:uFillTx/>
              <a:latin typeface="Arial"/>
            </a:endParaRPr>
          </a:p>
        </p:txBody>
      </p:sp>
      <p:pic>
        <p:nvPicPr>
          <p:cNvPr id="144" name="Image 0" descr="preencoded.png"/>
          <p:cNvPicPr/>
          <p:nvPr/>
        </p:nvPicPr>
        <p:blipFill>
          <a:blip r:embed="rId2"/>
          <a:stretch/>
        </p:blipFill>
        <p:spPr>
          <a:xfrm>
            <a:off x="567000" y="2715840"/>
            <a:ext cx="237240" cy="237240"/>
          </a:xfrm>
          <a:prstGeom prst="rect">
            <a:avLst/>
          </a:prstGeom>
          <a:noFill/>
          <a:ln w="0">
            <a:noFill/>
          </a:ln>
        </p:spPr>
      </p:pic>
      <p:sp>
        <p:nvSpPr>
          <p:cNvPr id="145" name="Text 6"/>
          <p:cNvSpPr/>
          <p:nvPr/>
        </p:nvSpPr>
        <p:spPr>
          <a:xfrm>
            <a:off x="1051560" y="2651760"/>
            <a:ext cx="274284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rgbClr val="FFFFFF"/>
                </a:solidFill>
                <a:effectLst/>
                <a:uFillTx/>
                <a:latin typeface="Plus Jakarta Sans"/>
                <a:ea typeface="Plus Jakarta Sans"/>
              </a:rPr>
              <a:t>For</a:t>
            </a:r>
            <a:endParaRPr lang="en-GB" sz="1600" b="0" u="none" strike="noStrike">
              <a:solidFill>
                <a:srgbClr val="FFFFFF"/>
              </a:solidFill>
              <a:effectLst/>
              <a:uFillTx/>
              <a:latin typeface="Arial"/>
            </a:endParaRPr>
          </a:p>
        </p:txBody>
      </p:sp>
      <p:sp>
        <p:nvSpPr>
          <p:cNvPr id="146" name="Text 7"/>
          <p:cNvSpPr/>
          <p:nvPr/>
        </p:nvSpPr>
        <p:spPr>
          <a:xfrm>
            <a:off x="457200" y="3200400"/>
            <a:ext cx="3840120" cy="1188360"/>
          </a:xfrm>
          <a:prstGeom prst="rect">
            <a:avLst/>
          </a:prstGeom>
          <a:noFill/>
          <a:ln w="0">
            <a:noFill/>
          </a:ln>
        </p:spPr>
        <p:style>
          <a:lnRef idx="0"/>
          <a:fillRef idx="0"/>
          <a:effectRef idx="0"/>
          <a:fontRef idx="minor"/>
        </p:style>
        <p:txBody>
          <a:bodyPr lIns="0" tIns="0" rIns="0" bIns="0" anchor="t">
            <a:noAutofit/>
          </a:bodyPr>
          <a:p>
            <a:pPr marL="177840" indent="-177840" defTabSz="914400">
              <a:lnSpc>
                <a:spcPct val="100000"/>
              </a:lnSpc>
              <a:spcAft>
                <a:spcPts val="601"/>
              </a:spcAft>
              <a:buClr>
                <a:srgbClr val="EEF8F6"/>
              </a:buClr>
              <a:buFont typeface="Symbol" charset="2"/>
              <a:buChar char=""/>
            </a:pPr>
            <a:r>
              <a:rPr lang="en-US" sz="1250" b="0" u="none" strike="noStrike">
                <a:solidFill>
                  <a:srgbClr val="EEF8F6"/>
                </a:solidFill>
                <a:effectLst/>
                <a:uFillTx/>
                <a:latin typeface="Plus Jakarta Sans"/>
                <a:ea typeface="Plus Jakarta Sans"/>
              </a:rPr>
              <a:t>A real, repeated pain for established couples</a:t>
            </a:r>
            <a:endParaRPr lang="en-GB" sz="1250" b="0" u="none" strike="noStrike">
              <a:solidFill>
                <a:srgbClr val="FFFFFF"/>
              </a:solidFill>
              <a:effectLst/>
              <a:uFillTx/>
              <a:latin typeface="Arial"/>
            </a:endParaRPr>
          </a:p>
          <a:p>
            <a:pPr marL="177840" indent="-177840" defTabSz="914400">
              <a:lnSpc>
                <a:spcPct val="100000"/>
              </a:lnSpc>
              <a:spcAft>
                <a:spcPts val="601"/>
              </a:spcAft>
              <a:buClr>
                <a:srgbClr val="EEF8F6"/>
              </a:buClr>
              <a:buFont typeface="Symbol" charset="2"/>
              <a:buChar char=""/>
            </a:pPr>
            <a:r>
              <a:rPr lang="en-US" sz="1250" b="0" u="none" strike="noStrike">
                <a:solidFill>
                  <a:srgbClr val="EEF8F6"/>
                </a:solidFill>
                <a:effectLst/>
                <a:uFillTx/>
                <a:latin typeface="Plus Jakarta Sans"/>
                <a:ea typeface="Plus Jakarta Sans"/>
              </a:rPr>
              <a:t>A clear gap: outdoor activities made for couples</a:t>
            </a:r>
            <a:endParaRPr lang="en-GB" sz="1250" b="0" u="none" strike="noStrike">
              <a:solidFill>
                <a:srgbClr val="FFFFFF"/>
              </a:solidFill>
              <a:effectLst/>
              <a:uFillTx/>
              <a:latin typeface="Arial"/>
            </a:endParaRPr>
          </a:p>
          <a:p>
            <a:pPr marL="177840" indent="-177840" defTabSz="914400">
              <a:lnSpc>
                <a:spcPct val="100000"/>
              </a:lnSpc>
              <a:spcAft>
                <a:spcPts val="601"/>
              </a:spcAft>
              <a:buClr>
                <a:srgbClr val="EEF8F6"/>
              </a:buClr>
              <a:buFont typeface="Symbol" charset="2"/>
              <a:buChar char=""/>
            </a:pPr>
            <a:r>
              <a:rPr lang="en-US" sz="1250" b="0" u="none" strike="noStrike">
                <a:solidFill>
                  <a:srgbClr val="EEF8F6"/>
                </a:solidFill>
                <a:effectLst/>
                <a:uFillTx/>
                <a:latin typeface="Plus Jakarta Sans"/>
                <a:ea typeface="Plus Jakarta Sans"/>
              </a:rPr>
              <a:t>A working prototype in Riga</a:t>
            </a:r>
            <a:endParaRPr lang="en-GB" sz="1250" b="0" u="none" strike="noStrike">
              <a:solidFill>
                <a:srgbClr val="FFFFFF"/>
              </a:solidFill>
              <a:effectLst/>
              <a:uFillTx/>
              <a:latin typeface="Arial"/>
            </a:endParaRPr>
          </a:p>
        </p:txBody>
      </p:sp>
      <p:sp>
        <p:nvSpPr>
          <p:cNvPr id="147" name="Shape 8"/>
          <p:cNvSpPr/>
          <p:nvPr/>
        </p:nvSpPr>
        <p:spPr>
          <a:xfrm>
            <a:off x="4663440" y="2606040"/>
            <a:ext cx="456840" cy="456840"/>
          </a:xfrm>
          <a:prstGeom prst="ellipse">
            <a:avLst/>
          </a:prstGeom>
          <a:solidFill>
            <a:srgbClr val="FFFFFF"/>
          </a:solidFill>
          <a:ln w="0">
            <a:noFill/>
          </a:ln>
        </p:spPr>
        <p:style>
          <a:lnRef idx="0"/>
          <a:fillRef idx="0"/>
          <a:effectRef idx="0"/>
          <a:fontRef idx="minor"/>
        </p:style>
        <p:txBody>
          <a:bodyPr lIns="90000" tIns="45000" rIns="90000" bIns="45000" anchor="t">
            <a:noAutofit/>
          </a:bodyPr>
          <a:p>
            <a:endParaRPr lang="en-GB" sz="1800" b="0" u="none" strike="noStrike">
              <a:solidFill>
                <a:srgbClr val="000000"/>
              </a:solidFill>
              <a:effectLst/>
              <a:uFillTx/>
              <a:latin typeface="Arial"/>
            </a:endParaRPr>
          </a:p>
        </p:txBody>
      </p:sp>
      <p:pic>
        <p:nvPicPr>
          <p:cNvPr id="148" name="Image 1" descr="preencoded.png"/>
          <p:cNvPicPr/>
          <p:nvPr/>
        </p:nvPicPr>
        <p:blipFill>
          <a:blip r:embed="rId3"/>
          <a:stretch/>
        </p:blipFill>
        <p:spPr>
          <a:xfrm>
            <a:off x="4773240" y="2715840"/>
            <a:ext cx="237240" cy="237240"/>
          </a:xfrm>
          <a:prstGeom prst="rect">
            <a:avLst/>
          </a:prstGeom>
          <a:noFill/>
          <a:ln w="0">
            <a:noFill/>
          </a:ln>
        </p:spPr>
      </p:pic>
      <p:sp>
        <p:nvSpPr>
          <p:cNvPr id="149" name="Text 9"/>
          <p:cNvSpPr/>
          <p:nvPr/>
        </p:nvSpPr>
        <p:spPr>
          <a:xfrm>
            <a:off x="5257800" y="2651760"/>
            <a:ext cx="274284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rgbClr val="FFFFFF"/>
                </a:solidFill>
                <a:effectLst/>
                <a:uFillTx/>
                <a:latin typeface="Plus Jakarta Sans"/>
                <a:ea typeface="Plus Jakarta Sans"/>
              </a:rPr>
              <a:t>Against</a:t>
            </a:r>
            <a:endParaRPr lang="en-GB" sz="1600" b="0" u="none" strike="noStrike">
              <a:solidFill>
                <a:srgbClr val="FFFFFF"/>
              </a:solidFill>
              <a:effectLst/>
              <a:uFillTx/>
              <a:latin typeface="Arial"/>
            </a:endParaRPr>
          </a:p>
        </p:txBody>
      </p:sp>
      <p:sp>
        <p:nvSpPr>
          <p:cNvPr id="150" name="Text 10"/>
          <p:cNvSpPr/>
          <p:nvPr/>
        </p:nvSpPr>
        <p:spPr>
          <a:xfrm>
            <a:off x="4663440" y="3200400"/>
            <a:ext cx="3840120" cy="1188360"/>
          </a:xfrm>
          <a:prstGeom prst="rect">
            <a:avLst/>
          </a:prstGeom>
          <a:noFill/>
          <a:ln w="0">
            <a:noFill/>
          </a:ln>
        </p:spPr>
        <p:style>
          <a:lnRef idx="0"/>
          <a:fillRef idx="0"/>
          <a:effectRef idx="0"/>
          <a:fontRef idx="minor"/>
        </p:style>
        <p:txBody>
          <a:bodyPr lIns="0" tIns="0" rIns="0" bIns="0" anchor="t">
            <a:noAutofit/>
          </a:bodyPr>
          <a:p>
            <a:pPr marL="177840" indent="-177840" defTabSz="914400">
              <a:lnSpc>
                <a:spcPct val="100000"/>
              </a:lnSpc>
              <a:spcAft>
                <a:spcPts val="601"/>
              </a:spcAft>
              <a:buClr>
                <a:srgbClr val="EEF8F6"/>
              </a:buClr>
              <a:buFont typeface="Symbol" charset="2"/>
              <a:buChar char=""/>
            </a:pPr>
            <a:r>
              <a:rPr lang="en-US" sz="1250" b="0" u="none" strike="noStrike">
                <a:solidFill>
                  <a:srgbClr val="EEF8F6"/>
                </a:solidFill>
                <a:effectLst/>
                <a:uFillTx/>
                <a:latin typeface="Plus Jakarta Sans"/>
                <a:ea typeface="Plus Jakarta Sans"/>
              </a:rPr>
              <a:t>Nobody pays for date ideas today</a:t>
            </a:r>
            <a:endParaRPr lang="en-GB" sz="1250" b="0" u="none" strike="noStrike">
              <a:solidFill>
                <a:srgbClr val="FFFFFF"/>
              </a:solidFill>
              <a:effectLst/>
              <a:uFillTx/>
              <a:latin typeface="Arial"/>
            </a:endParaRPr>
          </a:p>
          <a:p>
            <a:pPr marL="177840" indent="-177840" defTabSz="914400">
              <a:lnSpc>
                <a:spcPct val="100000"/>
              </a:lnSpc>
              <a:spcAft>
                <a:spcPts val="601"/>
              </a:spcAft>
              <a:buClr>
                <a:srgbClr val="EEF8F6"/>
              </a:buClr>
              <a:buFont typeface="Symbol" charset="2"/>
              <a:buChar char=""/>
            </a:pPr>
            <a:r>
              <a:rPr lang="en-US" sz="1250" b="0" u="none" strike="noStrike">
                <a:solidFill>
                  <a:srgbClr val="EEF8F6"/>
                </a:solidFill>
                <a:effectLst/>
                <a:uFillTx/>
                <a:latin typeface="Plus Jakarta Sans"/>
                <a:ea typeface="Plus Jakarta Sans"/>
              </a:rPr>
              <a:t>Retention is untested</a:t>
            </a:r>
            <a:endParaRPr lang="en-GB" sz="1250" b="0" u="none" strike="noStrike">
              <a:solidFill>
                <a:srgbClr val="FFFFFF"/>
              </a:solidFill>
              <a:effectLst/>
              <a:uFillTx/>
              <a:latin typeface="Arial"/>
            </a:endParaRPr>
          </a:p>
          <a:p>
            <a:pPr marL="177840" indent="-177840" defTabSz="914400">
              <a:lnSpc>
                <a:spcPct val="100000"/>
              </a:lnSpc>
              <a:spcAft>
                <a:spcPts val="601"/>
              </a:spcAft>
              <a:buClr>
                <a:srgbClr val="EEF8F6"/>
              </a:buClr>
              <a:buFont typeface="Symbol" charset="2"/>
              <a:buChar char=""/>
            </a:pPr>
            <a:r>
              <a:rPr lang="en-US" sz="1250" b="0" u="none" strike="noStrike">
                <a:solidFill>
                  <a:srgbClr val="EEF8F6"/>
                </a:solidFill>
                <a:effectLst/>
                <a:uFillTx/>
                <a:latin typeface="Plus Jakarta Sans"/>
                <a:ea typeface="Plus Jakarta Sans"/>
              </a:rPr>
              <a:t>Let’s Roam could add a couples mode</a:t>
            </a:r>
            <a:endParaRPr lang="en-GB" sz="1250" b="0" u="none" strike="noStrike">
              <a:solidFill>
                <a:srgbClr val="FFFFFF"/>
              </a:solidFill>
              <a:effectLst/>
              <a:uFillTx/>
              <a:latin typeface="Arial"/>
            </a:endParaRPr>
          </a:p>
        </p:txBody>
      </p:sp>
      <p:sp>
        <p:nvSpPr>
          <p:cNvPr id="151" name="Text 11"/>
          <p:cNvSpPr/>
          <p:nvPr/>
        </p:nvSpPr>
        <p:spPr>
          <a:xfrm>
            <a:off x="457200" y="4526280"/>
            <a:ext cx="82292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0" i="1" u="none" strike="noStrike">
                <a:solidFill>
                  <a:srgbClr val="D4EFEA"/>
                </a:solidFill>
                <a:effectLst/>
                <a:uFillTx/>
                <a:latin typeface="Plus Jakarta Sans"/>
                <a:ea typeface="Plus Jakarta Sans"/>
              </a:rPr>
              <a:t>Next step: [e.g. pilot with 10 Riga couples]</a:t>
            </a:r>
            <a:endParaRPr lang="en-GB" sz="12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0</TotalTime>
  <Application>LibreOffice/26.2.5.2$Windows_X86_64 LibreOffice_project/cd7284b4cbbfeb507e630c1aac019f4157393acb</Application>
  <AppVersion>15.0000</AppVersion>
  <Words>0</Words>
  <Paragraphs>0</Paragraphs>
  <Company>PptxGenJS</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2026-09-24T12:24:35Z</dcterms:created>
  <dc:creator>PptxGenJS</dc:creator>
  <dc:description/>
  <dc:language>en-GB</dc:language>
  <cp:lastModifiedBy>PptxGenJS</cp:lastModifiedBy>
  <dcterms:modified xsi:type="dcterms:W3CDTF">2026-09-24T12:24:35Z</dcterms:modified>
  <cp:revision>1</cp:revision>
  <dc:subject>PptxGenJS Presentation</dc:subject>
  <dc:title>Wannadoo</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7</vt:i4>
  </property>
  <property fmtid="{D5CDD505-2E9C-101B-9397-08002B2CF9AE}" pid="3" name="PresentationFormat">
    <vt:lpwstr>On-screen Show (16:9)</vt:lpwstr>
  </property>
  <property fmtid="{D5CDD505-2E9C-101B-9397-08002B2CF9AE}" pid="4" name="Slides">
    <vt:i4>7</vt:i4>
  </property>
</Properties>
</file>